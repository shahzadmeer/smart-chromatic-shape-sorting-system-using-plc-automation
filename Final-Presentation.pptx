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jpe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85" r:id="rId1"/>
  </p:sldMasterIdLst>
  <p:notesMasterIdLst>
    <p:notesMasterId r:id="rId20"/>
  </p:notesMasterIdLst>
  <p:handoutMasterIdLst>
    <p:handoutMasterId r:id="rId21"/>
  </p:handoutMasterIdLst>
  <p:sldIdLst>
    <p:sldId id="335" r:id="rId2"/>
    <p:sldId id="311" r:id="rId3"/>
    <p:sldId id="346" r:id="rId4"/>
    <p:sldId id="271" r:id="rId5"/>
    <p:sldId id="342" r:id="rId6"/>
    <p:sldId id="343" r:id="rId7"/>
    <p:sldId id="340" r:id="rId8"/>
    <p:sldId id="262" r:id="rId9"/>
    <p:sldId id="303" r:id="rId10"/>
    <p:sldId id="336" r:id="rId11"/>
    <p:sldId id="344" r:id="rId12"/>
    <p:sldId id="324" r:id="rId13"/>
    <p:sldId id="325" r:id="rId14"/>
    <p:sldId id="347" r:id="rId15"/>
    <p:sldId id="348" r:id="rId16"/>
    <p:sldId id="349" r:id="rId17"/>
    <p:sldId id="350" r:id="rId18"/>
    <p:sldId id="32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1" clrIdx="0">
    <p:extLst>
      <p:ext uri="{19B8F6BF-5375-455C-9EA6-DF929625EA0E}">
        <p15:presenceInfo xmlns:p15="http://schemas.microsoft.com/office/powerpoint/2012/main" userId="Windows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79" autoAdjust="0"/>
    <p:restoredTop sz="93763" autoAdjust="0"/>
  </p:normalViewPr>
  <p:slideViewPr>
    <p:cSldViewPr snapToGrid="0" showGuides="1">
      <p:cViewPr varScale="1">
        <p:scale>
          <a:sx n="68" d="100"/>
          <a:sy n="68" d="100"/>
        </p:scale>
        <p:origin x="828"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ableStyles" Target="tableStyles.xml" /><Relationship Id="rId3" Type="http://schemas.openxmlformats.org/officeDocument/2006/relationships/slide" Target="slides/slide2.xml" /><Relationship Id="rId21" Type="http://schemas.openxmlformats.org/officeDocument/2006/relationships/handoutMaster" Target="handoutMasters/handoutMaster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commentAuthors" Target="commentAuthors.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1970492-77F0-471E-B6E6-67238F39038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8F0B7D4-2410-4765-AB58-36B9E3A1BF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B6160DB-5578-46F2-94AB-8BC7BD2E72E2}" type="datetimeFigureOut">
              <a:rPr lang="en-US" smtClean="0"/>
              <a:t>5/20/2026</a:t>
            </a:fld>
            <a:endParaRPr lang="en-US"/>
          </a:p>
        </p:txBody>
      </p:sp>
      <p:sp>
        <p:nvSpPr>
          <p:cNvPr id="4" name="Footer Placeholder 3">
            <a:extLst>
              <a:ext uri="{FF2B5EF4-FFF2-40B4-BE49-F238E27FC236}">
                <a16:creationId xmlns:a16="http://schemas.microsoft.com/office/drawing/2014/main" id="{106CA390-018A-48D9-A382-A3F4BE6B9F6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5B84B09-89F2-4FCA-9A6B-6079314CBB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47AE782-2798-4E85-B0AF-6BE640F8B3BE}" type="slidenum">
              <a:rPr lang="en-US" smtClean="0"/>
              <a:t>‹#›</a:t>
            </a:fld>
            <a:endParaRPr lang="en-US"/>
          </a:p>
        </p:txBody>
      </p:sp>
    </p:spTree>
    <p:extLst>
      <p:ext uri="{BB962C8B-B14F-4D97-AF65-F5344CB8AC3E}">
        <p14:creationId xmlns:p14="http://schemas.microsoft.com/office/powerpoint/2010/main" val="195531207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CEA512-DC24-4787-927B-480EB06FBC8C}" type="datetimeFigureOut">
              <a:rPr lang="en-US" smtClean="0"/>
              <a:t>5/20/2026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57D8F-2B00-4F36-AE49-6CF69ADB4C1E}" type="slidenum">
              <a:rPr lang="en-US" smtClean="0"/>
              <a:t>‹#›</a:t>
            </a:fld>
            <a:endParaRPr lang="en-US"/>
          </a:p>
        </p:txBody>
      </p:sp>
    </p:spTree>
    <p:extLst>
      <p:ext uri="{BB962C8B-B14F-4D97-AF65-F5344CB8AC3E}">
        <p14:creationId xmlns:p14="http://schemas.microsoft.com/office/powerpoint/2010/main" val="255257054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57D8F-2B00-4F36-AE49-6CF69ADB4C1E}" type="slidenum">
              <a:rPr lang="en-US" smtClean="0"/>
              <a:t>1</a:t>
            </a:fld>
            <a:endParaRPr lang="en-US"/>
          </a:p>
        </p:txBody>
      </p:sp>
    </p:spTree>
    <p:extLst>
      <p:ext uri="{BB962C8B-B14F-4D97-AF65-F5344CB8AC3E}">
        <p14:creationId xmlns:p14="http://schemas.microsoft.com/office/powerpoint/2010/main" val="966671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57D8F-2B00-4F36-AE49-6CF69ADB4C1E}" type="slidenum">
              <a:rPr lang="en-US" smtClean="0"/>
              <a:t>2</a:t>
            </a:fld>
            <a:endParaRPr lang="en-US"/>
          </a:p>
        </p:txBody>
      </p:sp>
    </p:spTree>
    <p:extLst>
      <p:ext uri="{BB962C8B-B14F-4D97-AF65-F5344CB8AC3E}">
        <p14:creationId xmlns:p14="http://schemas.microsoft.com/office/powerpoint/2010/main" val="3360107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88B1D-310B-F26C-F2FD-8BF5CA273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BFCD4-BEA3-396F-EC1E-27ACD986E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853C40-5687-BBCF-6F5F-F7C014491A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26EBC7-78D9-CEB5-E279-9DEAEA15210A}"/>
              </a:ext>
            </a:extLst>
          </p:cNvPr>
          <p:cNvSpPr>
            <a:spLocks noGrp="1"/>
          </p:cNvSpPr>
          <p:nvPr>
            <p:ph type="sldNum" sz="quarter" idx="5"/>
          </p:nvPr>
        </p:nvSpPr>
        <p:spPr/>
        <p:txBody>
          <a:bodyPr/>
          <a:lstStyle/>
          <a:p>
            <a:fld id="{20957D8F-2B00-4F36-AE49-6CF69ADB4C1E}" type="slidenum">
              <a:rPr lang="en-US" smtClean="0"/>
              <a:t>3</a:t>
            </a:fld>
            <a:endParaRPr lang="en-US"/>
          </a:p>
        </p:txBody>
      </p:sp>
    </p:spTree>
    <p:extLst>
      <p:ext uri="{BB962C8B-B14F-4D97-AF65-F5344CB8AC3E}">
        <p14:creationId xmlns:p14="http://schemas.microsoft.com/office/powerpoint/2010/main" val="1312650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57D8F-2B00-4F36-AE49-6CF69ADB4C1E}" type="slidenum">
              <a:rPr lang="en-US" smtClean="0"/>
              <a:t>4</a:t>
            </a:fld>
            <a:endParaRPr lang="en-US"/>
          </a:p>
        </p:txBody>
      </p:sp>
    </p:spTree>
    <p:extLst>
      <p:ext uri="{BB962C8B-B14F-4D97-AF65-F5344CB8AC3E}">
        <p14:creationId xmlns:p14="http://schemas.microsoft.com/office/powerpoint/2010/main" val="2753984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BF3BA-310B-D477-7171-1834354CD6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183EA6-E49E-37AB-AC7B-CCEDFC79D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0FCAF8-8750-CCFA-12FC-5948816326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6B67AE-8832-2316-9FD5-C7D120ECA092}"/>
              </a:ext>
            </a:extLst>
          </p:cNvPr>
          <p:cNvSpPr>
            <a:spLocks noGrp="1"/>
          </p:cNvSpPr>
          <p:nvPr>
            <p:ph type="sldNum" sz="quarter" idx="5"/>
          </p:nvPr>
        </p:nvSpPr>
        <p:spPr/>
        <p:txBody>
          <a:bodyPr/>
          <a:lstStyle/>
          <a:p>
            <a:fld id="{20957D8F-2B00-4F36-AE49-6CF69ADB4C1E}" type="slidenum">
              <a:rPr lang="en-US" smtClean="0"/>
              <a:t>5</a:t>
            </a:fld>
            <a:endParaRPr lang="en-US"/>
          </a:p>
        </p:txBody>
      </p:sp>
    </p:spTree>
    <p:extLst>
      <p:ext uri="{BB962C8B-B14F-4D97-AF65-F5344CB8AC3E}">
        <p14:creationId xmlns:p14="http://schemas.microsoft.com/office/powerpoint/2010/main" val="3426045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0E522-341B-66D4-282A-BB69209327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62D79-E6A1-40D3-523A-33361C12AF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740343-7A07-552A-EC65-F92594BD43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EC77BE-0DB3-6F87-01EC-5B629740E242}"/>
              </a:ext>
            </a:extLst>
          </p:cNvPr>
          <p:cNvSpPr>
            <a:spLocks noGrp="1"/>
          </p:cNvSpPr>
          <p:nvPr>
            <p:ph type="sldNum" sz="quarter" idx="5"/>
          </p:nvPr>
        </p:nvSpPr>
        <p:spPr/>
        <p:txBody>
          <a:bodyPr/>
          <a:lstStyle/>
          <a:p>
            <a:fld id="{20957D8F-2B00-4F36-AE49-6CF69ADB4C1E}" type="slidenum">
              <a:rPr lang="en-US" smtClean="0"/>
              <a:t>6</a:t>
            </a:fld>
            <a:endParaRPr lang="en-US"/>
          </a:p>
        </p:txBody>
      </p:sp>
    </p:spTree>
    <p:extLst>
      <p:ext uri="{BB962C8B-B14F-4D97-AF65-F5344CB8AC3E}">
        <p14:creationId xmlns:p14="http://schemas.microsoft.com/office/powerpoint/2010/main" val="1657834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57D8F-2B00-4F36-AE49-6CF69ADB4C1E}" type="slidenum">
              <a:rPr lang="en-US" smtClean="0"/>
              <a:t>7</a:t>
            </a:fld>
            <a:endParaRPr lang="en-US"/>
          </a:p>
        </p:txBody>
      </p:sp>
    </p:spTree>
    <p:extLst>
      <p:ext uri="{BB962C8B-B14F-4D97-AF65-F5344CB8AC3E}">
        <p14:creationId xmlns:p14="http://schemas.microsoft.com/office/powerpoint/2010/main" val="802730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57D8F-2B00-4F36-AE49-6CF69ADB4C1E}" type="slidenum">
              <a:rPr lang="en-US" smtClean="0"/>
              <a:t>8</a:t>
            </a:fld>
            <a:endParaRPr lang="en-US"/>
          </a:p>
        </p:txBody>
      </p:sp>
    </p:spTree>
    <p:extLst>
      <p:ext uri="{BB962C8B-B14F-4D97-AF65-F5344CB8AC3E}">
        <p14:creationId xmlns:p14="http://schemas.microsoft.com/office/powerpoint/2010/main" val="519539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57D8F-2B00-4F36-AE49-6CF69ADB4C1E}" type="slidenum">
              <a:rPr lang="en-US" smtClean="0"/>
              <a:t>10</a:t>
            </a:fld>
            <a:endParaRPr lang="en-US"/>
          </a:p>
        </p:txBody>
      </p:sp>
    </p:spTree>
    <p:extLst>
      <p:ext uri="{BB962C8B-B14F-4D97-AF65-F5344CB8AC3E}">
        <p14:creationId xmlns:p14="http://schemas.microsoft.com/office/powerpoint/2010/main" val="3903702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0B97A-D15B-B5C6-37AD-EAAFAC314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8F3DE9-EF7D-D899-DB06-496B51C1766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E4209C1-835C-3694-415E-1324555A06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C8199E-F897-06B7-C72A-A2BE1C7585FF}"/>
              </a:ext>
            </a:extLst>
          </p:cNvPr>
          <p:cNvSpPr>
            <a:spLocks noGrp="1"/>
          </p:cNvSpPr>
          <p:nvPr>
            <p:ph type="sldNum" sz="quarter" idx="10"/>
          </p:nvPr>
        </p:nvSpPr>
        <p:spPr/>
        <p:txBody>
          <a:bodyPr/>
          <a:lstStyle/>
          <a:p>
            <a:fld id="{20957D8F-2B00-4F36-AE49-6CF69ADB4C1E}" type="slidenum">
              <a:rPr lang="en-US" smtClean="0"/>
              <a:t>11</a:t>
            </a:fld>
            <a:endParaRPr lang="en-US"/>
          </a:p>
        </p:txBody>
      </p:sp>
    </p:spTree>
    <p:extLst>
      <p:ext uri="{BB962C8B-B14F-4D97-AF65-F5344CB8AC3E}">
        <p14:creationId xmlns:p14="http://schemas.microsoft.com/office/powerpoint/2010/main" val="3132875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57D8F-2B00-4F36-AE49-6CF69ADB4C1E}" type="slidenum">
              <a:rPr lang="en-US" smtClean="0"/>
              <a:t>13</a:t>
            </a:fld>
            <a:endParaRPr lang="en-US"/>
          </a:p>
        </p:txBody>
      </p:sp>
    </p:spTree>
    <p:extLst>
      <p:ext uri="{BB962C8B-B14F-4D97-AF65-F5344CB8AC3E}">
        <p14:creationId xmlns:p14="http://schemas.microsoft.com/office/powerpoint/2010/main" val="922813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A7CE9-7391-DFC7-9B58-F2079C9D49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91E61-1A9A-755E-4BD4-8828907177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0618ED-CB64-A264-8DC0-800E402388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339187-3EDA-A17F-39E6-FE7F3532EB5A}"/>
              </a:ext>
            </a:extLst>
          </p:cNvPr>
          <p:cNvSpPr>
            <a:spLocks noGrp="1"/>
          </p:cNvSpPr>
          <p:nvPr>
            <p:ph type="sldNum" sz="quarter" idx="5"/>
          </p:nvPr>
        </p:nvSpPr>
        <p:spPr/>
        <p:txBody>
          <a:bodyPr/>
          <a:lstStyle/>
          <a:p>
            <a:fld id="{20957D8F-2B00-4F36-AE49-6CF69ADB4C1E}" type="slidenum">
              <a:rPr lang="en-US" smtClean="0"/>
              <a:t>14</a:t>
            </a:fld>
            <a:endParaRPr lang="en-US"/>
          </a:p>
        </p:txBody>
      </p:sp>
    </p:spTree>
    <p:extLst>
      <p:ext uri="{BB962C8B-B14F-4D97-AF65-F5344CB8AC3E}">
        <p14:creationId xmlns:p14="http://schemas.microsoft.com/office/powerpoint/2010/main" val="3756138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6EE54-0972-3B83-7119-3535AA480D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7AE7EA-2828-037C-9CB5-1B65A9C116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90A917-85F3-8085-C589-20905D75F1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794485-D2E9-F747-55A8-0B81B8E7ADB7}"/>
              </a:ext>
            </a:extLst>
          </p:cNvPr>
          <p:cNvSpPr>
            <a:spLocks noGrp="1"/>
          </p:cNvSpPr>
          <p:nvPr>
            <p:ph type="sldNum" sz="quarter" idx="5"/>
          </p:nvPr>
        </p:nvSpPr>
        <p:spPr/>
        <p:txBody>
          <a:bodyPr/>
          <a:lstStyle/>
          <a:p>
            <a:fld id="{20957D8F-2B00-4F36-AE49-6CF69ADB4C1E}" type="slidenum">
              <a:rPr lang="en-US" smtClean="0"/>
              <a:t>15</a:t>
            </a:fld>
            <a:endParaRPr lang="en-US"/>
          </a:p>
        </p:txBody>
      </p:sp>
    </p:spTree>
    <p:extLst>
      <p:ext uri="{BB962C8B-B14F-4D97-AF65-F5344CB8AC3E}">
        <p14:creationId xmlns:p14="http://schemas.microsoft.com/office/powerpoint/2010/main" val="38983519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32FFD-BEF0-91A3-F046-90AFB43920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0D943-967B-52DC-081F-561027A00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5B69EE-F3E1-34FA-BE30-33FDAFDBDF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3FA18A-E9FC-5DA6-5067-D3246821DBBE}"/>
              </a:ext>
            </a:extLst>
          </p:cNvPr>
          <p:cNvSpPr>
            <a:spLocks noGrp="1"/>
          </p:cNvSpPr>
          <p:nvPr>
            <p:ph type="sldNum" sz="quarter" idx="5"/>
          </p:nvPr>
        </p:nvSpPr>
        <p:spPr/>
        <p:txBody>
          <a:bodyPr/>
          <a:lstStyle/>
          <a:p>
            <a:fld id="{20957D8F-2B00-4F36-AE49-6CF69ADB4C1E}" type="slidenum">
              <a:rPr lang="en-US" smtClean="0"/>
              <a:t>16</a:t>
            </a:fld>
            <a:endParaRPr lang="en-US"/>
          </a:p>
        </p:txBody>
      </p:sp>
    </p:spTree>
    <p:extLst>
      <p:ext uri="{BB962C8B-B14F-4D97-AF65-F5344CB8AC3E}">
        <p14:creationId xmlns:p14="http://schemas.microsoft.com/office/powerpoint/2010/main" val="28828045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CC373-7507-C770-BFDF-747A7CF7DA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7B0C20-E8AF-0073-AD09-58BBC6F329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48779-FF27-3247-D1CE-282A4313A6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70B8C1-FFE9-AA9C-9CC5-983ACF3D3107}"/>
              </a:ext>
            </a:extLst>
          </p:cNvPr>
          <p:cNvSpPr>
            <a:spLocks noGrp="1"/>
          </p:cNvSpPr>
          <p:nvPr>
            <p:ph type="sldNum" sz="quarter" idx="5"/>
          </p:nvPr>
        </p:nvSpPr>
        <p:spPr/>
        <p:txBody>
          <a:bodyPr/>
          <a:lstStyle/>
          <a:p>
            <a:fld id="{20957D8F-2B00-4F36-AE49-6CF69ADB4C1E}" type="slidenum">
              <a:rPr lang="en-US" smtClean="0"/>
              <a:t>17</a:t>
            </a:fld>
            <a:endParaRPr lang="en-US"/>
          </a:p>
        </p:txBody>
      </p:sp>
    </p:spTree>
    <p:extLst>
      <p:ext uri="{BB962C8B-B14F-4D97-AF65-F5344CB8AC3E}">
        <p14:creationId xmlns:p14="http://schemas.microsoft.com/office/powerpoint/2010/main" val="3960319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8DE6D24B-46F6-438F-9C9F-E631D650F601}" type="datetime2">
              <a:rPr lang="en-US" smtClean="0"/>
              <a:t>Wednesday, May 20, 2026</a:t>
            </a:fld>
            <a:endParaRPr lang="en-US" dirty="0"/>
          </a:p>
        </p:txBody>
      </p:sp>
      <p:sp>
        <p:nvSpPr>
          <p:cNvPr id="5" name="Footer Placeholder 4"/>
          <p:cNvSpPr>
            <a:spLocks noGrp="1"/>
          </p:cNvSpPr>
          <p:nvPr>
            <p:ph type="ftr" sz="quarter" idx="11"/>
          </p:nvPr>
        </p:nvSpPr>
        <p:spPr/>
        <p:txBody>
          <a:bodyPr/>
          <a:lstStyle/>
          <a:p>
            <a:r>
              <a:rPr lang="en-US"/>
              <a:t>Final Year Design Project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52531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FFFEEE-DC33-411B-B5FE-2E99BCEF35AF}" type="datetime2">
              <a:rPr lang="en-US" smtClean="0"/>
              <a:t>Wednesday, May 20, 2026</a:t>
            </a:fld>
            <a:endParaRPr lang="en-US" dirty="0"/>
          </a:p>
        </p:txBody>
      </p:sp>
      <p:sp>
        <p:nvSpPr>
          <p:cNvPr id="5" name="Footer Placeholder 4"/>
          <p:cNvSpPr>
            <a:spLocks noGrp="1"/>
          </p:cNvSpPr>
          <p:nvPr>
            <p:ph type="ftr" sz="quarter" idx="11"/>
          </p:nvPr>
        </p:nvSpPr>
        <p:spPr/>
        <p:txBody>
          <a:bodyPr/>
          <a:lstStyle/>
          <a:p>
            <a:r>
              <a:rPr lang="en-US"/>
              <a:t>Final Year Design Project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26553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A921691-BA60-4D86-9B68-A3E3177CC6C7}" type="datetime2">
              <a:rPr lang="en-US" smtClean="0"/>
              <a:t>Wednesday, May 20, 2026</a:t>
            </a:fld>
            <a:endParaRPr lang="en-US" dirty="0"/>
          </a:p>
        </p:txBody>
      </p:sp>
      <p:sp>
        <p:nvSpPr>
          <p:cNvPr id="5" name="Footer Placeholder 4"/>
          <p:cNvSpPr>
            <a:spLocks noGrp="1"/>
          </p:cNvSpPr>
          <p:nvPr>
            <p:ph type="ftr" sz="quarter" idx="11"/>
          </p:nvPr>
        </p:nvSpPr>
        <p:spPr/>
        <p:txBody>
          <a:bodyPr/>
          <a:lstStyle/>
          <a:p>
            <a:r>
              <a:rPr lang="en-US"/>
              <a:t>Final Year Design Project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22835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5E034E9-FDDF-4F5C-8975-3CF1FA71A03C}" type="datetime2">
              <a:rPr lang="en-US" smtClean="0"/>
              <a:t>Wednesday, May 20, 2026</a:t>
            </a:fld>
            <a:endParaRPr lang="en-US" dirty="0"/>
          </a:p>
        </p:txBody>
      </p:sp>
      <p:sp>
        <p:nvSpPr>
          <p:cNvPr id="6" name="Footer Placeholder 5"/>
          <p:cNvSpPr>
            <a:spLocks noGrp="1"/>
          </p:cNvSpPr>
          <p:nvPr>
            <p:ph type="ftr" sz="quarter" idx="11"/>
          </p:nvPr>
        </p:nvSpPr>
        <p:spPr/>
        <p:txBody>
          <a:bodyPr/>
          <a:lstStyle/>
          <a:p>
            <a:r>
              <a:rPr lang="en-US"/>
              <a:t>Final Year Design Project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5179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8B24A00-A3E6-45DB-B6A7-3CF4FAA5B3EB}" type="datetime2">
              <a:rPr lang="en-US" smtClean="0"/>
              <a:t>Wednesday, May 20, 2026</a:t>
            </a:fld>
            <a:endParaRPr lang="en-US" dirty="0"/>
          </a:p>
        </p:txBody>
      </p:sp>
      <p:sp>
        <p:nvSpPr>
          <p:cNvPr id="8" name="Footer Placeholder 7"/>
          <p:cNvSpPr>
            <a:spLocks noGrp="1"/>
          </p:cNvSpPr>
          <p:nvPr>
            <p:ph type="ftr" sz="quarter" idx="11"/>
          </p:nvPr>
        </p:nvSpPr>
        <p:spPr/>
        <p:txBody>
          <a:bodyPr/>
          <a:lstStyle/>
          <a:p>
            <a:r>
              <a:rPr lang="en-US"/>
              <a:t>Final Year Design Project</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12568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B8C23E2-3558-4C75-81F1-7B63C9E33D72}" type="datetime2">
              <a:rPr lang="en-US" smtClean="0"/>
              <a:t>Wednesday, May 20, 2026</a:t>
            </a:fld>
            <a:endParaRPr lang="en-US" dirty="0"/>
          </a:p>
        </p:txBody>
      </p:sp>
      <p:sp>
        <p:nvSpPr>
          <p:cNvPr id="4" name="Footer Placeholder 3"/>
          <p:cNvSpPr>
            <a:spLocks noGrp="1"/>
          </p:cNvSpPr>
          <p:nvPr>
            <p:ph type="ftr" sz="quarter" idx="11"/>
          </p:nvPr>
        </p:nvSpPr>
        <p:spPr/>
        <p:txBody>
          <a:bodyPr/>
          <a:lstStyle/>
          <a:p>
            <a:r>
              <a:rPr lang="en-US"/>
              <a:t>Final Year Design Project</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57383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71F44C-C8C9-44A4-9402-6C44E07E03A0}" type="datetime2">
              <a:rPr lang="en-US" smtClean="0"/>
              <a:t>Wednesday, May 20, 2026</a:t>
            </a:fld>
            <a:endParaRPr lang="en-US" dirty="0"/>
          </a:p>
        </p:txBody>
      </p:sp>
      <p:sp>
        <p:nvSpPr>
          <p:cNvPr id="3" name="Footer Placeholder 2"/>
          <p:cNvSpPr>
            <a:spLocks noGrp="1"/>
          </p:cNvSpPr>
          <p:nvPr>
            <p:ph type="ftr" sz="quarter" idx="11"/>
          </p:nvPr>
        </p:nvSpPr>
        <p:spPr/>
        <p:txBody>
          <a:bodyPr/>
          <a:lstStyle/>
          <a:p>
            <a:r>
              <a:rPr lang="en-US"/>
              <a:t>Final Year Design Project</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432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3574D27-98A6-4F2E-8D32-759E96857BBA}" type="datetime2">
              <a:rPr lang="en-US" smtClean="0"/>
              <a:t>Wednesday, May 20, 2026</a:t>
            </a:fld>
            <a:endParaRPr lang="en-US" dirty="0"/>
          </a:p>
        </p:txBody>
      </p:sp>
      <p:sp>
        <p:nvSpPr>
          <p:cNvPr id="6" name="Footer Placeholder 5"/>
          <p:cNvSpPr>
            <a:spLocks noGrp="1"/>
          </p:cNvSpPr>
          <p:nvPr>
            <p:ph type="ftr" sz="quarter" idx="11"/>
          </p:nvPr>
        </p:nvSpPr>
        <p:spPr/>
        <p:txBody>
          <a:bodyPr/>
          <a:lstStyle/>
          <a:p>
            <a:r>
              <a:rPr lang="en-US"/>
              <a:t>Final Year Design Project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70556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F9D1736-3950-4DEC-84C8-2C94E4E98558}" type="datetime2">
              <a:rPr lang="en-US" smtClean="0"/>
              <a:t>Wednesday, May 20, 2026</a:t>
            </a:fld>
            <a:endParaRPr lang="en-US" dirty="0"/>
          </a:p>
        </p:txBody>
      </p:sp>
      <p:sp>
        <p:nvSpPr>
          <p:cNvPr id="6" name="Footer Placeholder 5"/>
          <p:cNvSpPr>
            <a:spLocks noGrp="1"/>
          </p:cNvSpPr>
          <p:nvPr>
            <p:ph type="ftr" sz="quarter" idx="11"/>
          </p:nvPr>
        </p:nvSpPr>
        <p:spPr/>
        <p:txBody>
          <a:bodyPr/>
          <a:lstStyle/>
          <a:p>
            <a:r>
              <a:rPr lang="en-US"/>
              <a:t>Final Year Design Project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95441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29DF12-D612-4F0B-9A69-76F4BD020FF1}" type="datetime2">
              <a:rPr lang="en-US" smtClean="0"/>
              <a:t>Wednesday, May 20, 2026</a:t>
            </a:fld>
            <a:endParaRPr lang="en-US" dirty="0"/>
          </a:p>
        </p:txBody>
      </p:sp>
      <p:sp>
        <p:nvSpPr>
          <p:cNvPr id="5" name="Footer Placeholder 4"/>
          <p:cNvSpPr>
            <a:spLocks noGrp="1"/>
          </p:cNvSpPr>
          <p:nvPr>
            <p:ph type="ftr" sz="quarter" idx="11"/>
          </p:nvPr>
        </p:nvSpPr>
        <p:spPr/>
        <p:txBody>
          <a:bodyPr/>
          <a:lstStyle/>
          <a:p>
            <a:r>
              <a:rPr lang="en-US"/>
              <a:t>Final Year Design Project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9278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9FDCB-BB5E-403A-89A7-DF6CB1DAE47A}" type="datetime2">
              <a:rPr lang="en-US" smtClean="0"/>
              <a:t>Wednesday, May 20, 2026</a:t>
            </a:fld>
            <a:endParaRPr lang="en-US" dirty="0"/>
          </a:p>
        </p:txBody>
      </p:sp>
      <p:sp>
        <p:nvSpPr>
          <p:cNvPr id="5" name="Footer Placeholder 4"/>
          <p:cNvSpPr>
            <a:spLocks noGrp="1"/>
          </p:cNvSpPr>
          <p:nvPr>
            <p:ph type="ftr" sz="quarter" idx="11"/>
          </p:nvPr>
        </p:nvSpPr>
        <p:spPr/>
        <p:txBody>
          <a:bodyPr/>
          <a:lstStyle/>
          <a:p>
            <a:r>
              <a:rPr lang="en-US"/>
              <a:t>Final Year Design Project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962540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274130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5000">
              <a:schemeClr val="bg1">
                <a:tint val="90000"/>
                <a:lumMod val="110000"/>
              </a:schemeClr>
            </a:gs>
            <a:gs pos="100000">
              <a:schemeClr val="bg1">
                <a:shade val="64000"/>
                <a:lumMod val="88000"/>
              </a:schemeClr>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6A6F1D-3EA7-47E6-BF83-B1CA029D1469}" type="datetime2">
              <a:rPr lang="en-US" smtClean="0"/>
              <a:t>Wednesday, May 20, 2026</a:t>
            </a:fld>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Final Year Design Project</a:t>
            </a:r>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82448781"/>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Lst>
  <p:hf sldNum="0" hdr="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mp"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2.xml" /><Relationship Id="rId1" Type="http://schemas.openxmlformats.org/officeDocument/2006/relationships/slideLayout" Target="../slideLayouts/slideLayout2.xml" /><Relationship Id="rId4" Type="http://schemas.microsoft.com/office/2007/relationships/hdphoto" Target="../media/hdphoto1.wdp" /></Relationships>
</file>

<file path=ppt/slides/_rels/slide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3.xml" /><Relationship Id="rId1" Type="http://schemas.openxmlformats.org/officeDocument/2006/relationships/slideLayout" Target="../slideLayouts/slideLayout2.xml" /><Relationship Id="rId4" Type="http://schemas.microsoft.com/office/2007/relationships/hdphoto" Target="../media/hdphoto1.wdp" /></Relationships>
</file>

<file path=ppt/slides/_rels/slide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4.xml" /><Relationship Id="rId1" Type="http://schemas.openxmlformats.org/officeDocument/2006/relationships/slideLayout" Target="../slideLayouts/slideLayout9.xml" /><Relationship Id="rId4" Type="http://schemas.microsoft.com/office/2007/relationships/hdphoto" Target="../media/hdphoto1.wdp" /></Relationships>
</file>

<file path=ppt/slides/_rels/slide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5.xml" /><Relationship Id="rId1" Type="http://schemas.openxmlformats.org/officeDocument/2006/relationships/slideLayout" Target="../slideLayouts/slideLayout9.xml" /><Relationship Id="rId6" Type="http://schemas.openxmlformats.org/officeDocument/2006/relationships/image" Target="../media/image4.jpeg" /><Relationship Id="rId5" Type="http://schemas.openxmlformats.org/officeDocument/2006/relationships/image" Target="../media/image3.jpeg" /><Relationship Id="rId4" Type="http://schemas.microsoft.com/office/2007/relationships/hdphoto" Target="../media/hdphoto1.wdp" /></Relationships>
</file>

<file path=ppt/slides/_rels/slide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6.xml" /><Relationship Id="rId1" Type="http://schemas.openxmlformats.org/officeDocument/2006/relationships/slideLayout" Target="../slideLayouts/slideLayout9.xml" /><Relationship Id="rId4" Type="http://schemas.microsoft.com/office/2007/relationships/hdphoto" Target="../media/hdphoto1.wdp" /></Relationships>
</file>

<file path=ppt/slides/_rels/slide7.xml.rels><?xml version="1.0" encoding="UTF-8" standalone="yes"?>
<Relationships xmlns="http://schemas.openxmlformats.org/package/2006/relationships"><Relationship Id="rId8" Type="http://schemas.openxmlformats.org/officeDocument/2006/relationships/image" Target="../media/image8.jpeg" /><Relationship Id="rId3" Type="http://schemas.openxmlformats.org/officeDocument/2006/relationships/image" Target="../media/image2.png" /><Relationship Id="rId7" Type="http://schemas.openxmlformats.org/officeDocument/2006/relationships/image" Target="../media/image7.jpeg" /><Relationship Id="rId2" Type="http://schemas.openxmlformats.org/officeDocument/2006/relationships/notesSlide" Target="../notesSlides/notesSlide7.xml" /><Relationship Id="rId1" Type="http://schemas.openxmlformats.org/officeDocument/2006/relationships/slideLayout" Target="../slideLayouts/slideLayout8.xml" /><Relationship Id="rId6" Type="http://schemas.openxmlformats.org/officeDocument/2006/relationships/image" Target="../media/image6.jpg" /><Relationship Id="rId5" Type="http://schemas.openxmlformats.org/officeDocument/2006/relationships/image" Target="../media/image5.png" /><Relationship Id="rId4" Type="http://schemas.microsoft.com/office/2007/relationships/hdphoto" Target="../media/hdphoto1.wdp" /><Relationship Id="rId9" Type="http://schemas.openxmlformats.org/officeDocument/2006/relationships/image" Target="../media/image9.jpeg" /></Relationships>
</file>

<file path=ppt/slides/_rels/slide8.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8.xml" /><Relationship Id="rId1" Type="http://schemas.openxmlformats.org/officeDocument/2006/relationships/slideLayout" Target="../slideLayouts/slideLayout8.xml" /><Relationship Id="rId4" Type="http://schemas.microsoft.com/office/2007/relationships/hdphoto" Target="../media/hdphoto1.wdp" /></Relationships>
</file>

<file path=ppt/slides/_rels/slide9.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1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8.xml" /></Relationships>
</file>

<file path=ppt/slides/_rels/slide1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0.xml" /><Relationship Id="rId1" Type="http://schemas.openxmlformats.org/officeDocument/2006/relationships/slideLayout" Target="../slideLayouts/slideLayout8.xml" /><Relationship Id="rId6" Type="http://schemas.openxmlformats.org/officeDocument/2006/relationships/image" Target="../media/image12.jpeg" /><Relationship Id="rId5" Type="http://schemas.openxmlformats.org/officeDocument/2006/relationships/image" Target="../media/image11.jpeg" /><Relationship Id="rId4" Type="http://schemas.microsoft.com/office/2007/relationships/hdphoto" Target="../media/hdphoto1.wdp" /></Relationships>
</file>

<file path=ppt/slides/_rels/slide12.xml.rels><?xml version="1.0" encoding="UTF-8" standalone="yes"?>
<Relationships xmlns="http://schemas.openxmlformats.org/package/2006/relationships"><Relationship Id="rId3" Type="http://schemas.microsoft.com/office/2007/relationships/hdphoto" Target="../media/hdphoto1.wdp" /><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1.xml" /><Relationship Id="rId1" Type="http://schemas.openxmlformats.org/officeDocument/2006/relationships/slideLayout" Target="../slideLayouts/slideLayout9.xml" /><Relationship Id="rId4" Type="http://schemas.microsoft.com/office/2007/relationships/hdphoto" Target="../media/hdphoto1.wdp" /></Relationships>
</file>

<file path=ppt/slides/_rels/slide1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2.xml" /><Relationship Id="rId1" Type="http://schemas.openxmlformats.org/officeDocument/2006/relationships/slideLayout" Target="../slideLayouts/slideLayout9.xml" /><Relationship Id="rId4" Type="http://schemas.microsoft.com/office/2007/relationships/hdphoto" Target="../media/hdphoto1.wdp" /></Relationships>
</file>

<file path=ppt/slides/_rels/slide1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3.xml" /><Relationship Id="rId1" Type="http://schemas.openxmlformats.org/officeDocument/2006/relationships/slideLayout" Target="../slideLayouts/slideLayout9.xml" /><Relationship Id="rId4" Type="http://schemas.microsoft.com/office/2007/relationships/hdphoto" Target="../media/hdphoto1.wdp" /></Relationships>
</file>

<file path=ppt/slides/_rels/slide1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4.xml" /><Relationship Id="rId1" Type="http://schemas.openxmlformats.org/officeDocument/2006/relationships/slideLayout" Target="../slideLayouts/slideLayout9.xml" /><Relationship Id="rId4" Type="http://schemas.microsoft.com/office/2007/relationships/hdphoto" Target="../media/hdphoto1.wdp" /></Relationships>
</file>

<file path=ppt/slides/_rels/slide1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5.xml" /><Relationship Id="rId1" Type="http://schemas.openxmlformats.org/officeDocument/2006/relationships/slideLayout" Target="../slideLayouts/slideLayout9.xml" /><Relationship Id="rId4" Type="http://schemas.microsoft.com/office/2007/relationships/hdphoto" Target="../media/hdphoto1.wdp" /></Relationships>
</file>

<file path=ppt/slides/_rels/slide18.xml.rels><?xml version="1.0" encoding="UTF-8" standalone="yes"?>
<Relationships xmlns="http://schemas.openxmlformats.org/package/2006/relationships"><Relationship Id="rId3" Type="http://schemas.microsoft.com/office/2007/relationships/hdphoto" Target="../media/hdphoto1.wdp" /><Relationship Id="rId2" Type="http://schemas.openxmlformats.org/officeDocument/2006/relationships/image" Target="../media/image2.png" /><Relationship Id="rId1" Type="http://schemas.openxmlformats.org/officeDocument/2006/relationships/slideLayout" Target="../slideLayouts/slideLayout7.xml" /><Relationship Id="rId4" Type="http://schemas.openxmlformats.org/officeDocument/2006/relationships/image" Target="../media/image13.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2102" y="0"/>
            <a:ext cx="10035994" cy="2228148"/>
          </a:xfrm>
        </p:spPr>
        <p:txBody>
          <a:bodyPr>
            <a:noAutofit/>
          </a:bodyPr>
          <a:lstStyle/>
          <a:p>
            <a:r>
              <a:rPr lang="en-GB" sz="4000" b="1" dirty="0">
                <a:latin typeface="Times New Roman" panose="02020603050405020304" pitchFamily="18" charset="0"/>
                <a:ea typeface="Adobe Gothic Std B" panose="020B0800000000000000" pitchFamily="34" charset="-128"/>
                <a:cs typeface="Times New Roman" panose="02020603050405020304" pitchFamily="18" charset="0"/>
              </a:rPr>
              <a:t>Smart chromatic sorting system using PLC automation </a:t>
            </a:r>
            <a:endParaRPr lang="en-US" sz="4000" b="1" dirty="0">
              <a:latin typeface="Times New Roman" panose="02020603050405020304" pitchFamily="18" charset="0"/>
              <a:ea typeface="Adobe Gothic Std B" panose="020B0800000000000000" pitchFamily="34" charset="-128"/>
              <a:cs typeface="Times New Roman" panose="02020603050405020304" pitchFamily="18" charset="0"/>
            </a:endParaRPr>
          </a:p>
        </p:txBody>
      </p:sp>
      <p:sp>
        <p:nvSpPr>
          <p:cNvPr id="4" name="Text Placeholder 3"/>
          <p:cNvSpPr>
            <a:spLocks noGrp="1"/>
          </p:cNvSpPr>
          <p:nvPr>
            <p:ph type="subTitle" idx="1"/>
          </p:nvPr>
        </p:nvSpPr>
        <p:spPr>
          <a:xfrm>
            <a:off x="105103" y="2556408"/>
            <a:ext cx="11198367" cy="3595350"/>
          </a:xfrm>
        </p:spPr>
        <p:txBody>
          <a:bodyPr>
            <a:noAutofit/>
          </a:bodyPr>
          <a:lstStyle/>
          <a:p>
            <a:pPr algn="l">
              <a:lnSpc>
                <a:spcPct val="100000"/>
              </a:lnSpc>
            </a:pPr>
            <a:r>
              <a:rPr lang="en-US" sz="1600" b="1" dirty="0">
                <a:solidFill>
                  <a:schemeClr val="bg1"/>
                </a:solidFill>
                <a:latin typeface="Calibri" panose="020F0502020204030204" pitchFamily="34" charset="0"/>
                <a:ea typeface="Adobe Fan Heiti Std B" panose="020B0700000000000000" pitchFamily="34" charset="-128"/>
                <a:cs typeface="Calibri" panose="020F0502020204030204" pitchFamily="34" charset="0"/>
              </a:rPr>
              <a:t>	</a:t>
            </a:r>
            <a:r>
              <a:rPr lang="en-US" sz="2133" b="1" dirty="0">
                <a:solidFill>
                  <a:srgbClr val="FF0000"/>
                </a:solidFill>
                <a:latin typeface="Bookman Old Style" panose="02050604050505020204" pitchFamily="18" charset="0"/>
                <a:ea typeface="Adobe Fan Heiti Std B" panose="020B0700000000000000" pitchFamily="34" charset="-128"/>
                <a:cs typeface="Calibri" panose="020F0502020204030204" pitchFamily="34" charset="0"/>
              </a:rPr>
              <a:t>Presented by:</a:t>
            </a:r>
          </a:p>
          <a:p>
            <a:pPr marL="304756" lvl="1" algn="l">
              <a:lnSpc>
                <a:spcPct val="100000"/>
              </a:lnSpc>
            </a:pPr>
            <a:r>
              <a:rPr lang="en-US" sz="1600" b="1" dirty="0">
                <a:solidFill>
                  <a:schemeClr val="bg1"/>
                </a:solidFill>
                <a:latin typeface="Calibri" panose="020F0502020204030204" pitchFamily="34" charset="0"/>
                <a:ea typeface="Adobe Fan Heiti Std B" panose="020B0700000000000000" pitchFamily="34" charset="-128"/>
                <a:cs typeface="Calibri" panose="020F0502020204030204" pitchFamily="34" charset="0"/>
              </a:rPr>
              <a:t>  	 </a:t>
            </a:r>
            <a:r>
              <a:rPr lang="en-US" sz="1800" b="1" dirty="0" err="1">
                <a:latin typeface="Times New Roman" panose="02020603050405020304" pitchFamily="18" charset="0"/>
                <a:ea typeface="Adobe Fan Heiti Std B" panose="020B0700000000000000" pitchFamily="34" charset="-128"/>
                <a:cs typeface="Times New Roman" panose="02020603050405020304" pitchFamily="18" charset="0"/>
              </a:rPr>
              <a:t>Shahzad</a:t>
            </a:r>
            <a:r>
              <a:rPr lang="en-GB" sz="1800" b="1" dirty="0">
                <a:latin typeface="Times New Roman" panose="02020603050405020304" pitchFamily="18" charset="0"/>
                <a:ea typeface="Adobe Fan Heiti Std B" panose="020B0700000000000000" pitchFamily="34" charset="-128"/>
                <a:cs typeface="Times New Roman" panose="02020603050405020304" pitchFamily="18" charset="0"/>
              </a:rPr>
              <a:t> Meer</a:t>
            </a:r>
            <a:r>
              <a:rPr lang="en-US" sz="1800" b="1" dirty="0">
                <a:latin typeface="Times New Roman" panose="02020603050405020304" pitchFamily="18" charset="0"/>
                <a:ea typeface="Adobe Fan Heiti Std B" panose="020B0700000000000000" pitchFamily="34" charset="-128"/>
                <a:cs typeface="Times New Roman" panose="02020603050405020304" pitchFamily="18" charset="0"/>
              </a:rPr>
              <a:t> </a:t>
            </a:r>
            <a:r>
              <a:rPr lang="en-US" sz="1800" dirty="0">
                <a:latin typeface="Times New Roman" panose="02020603050405020304" pitchFamily="18" charset="0"/>
                <a:ea typeface="Adobe Fan Heiti Std B" panose="020B0700000000000000" pitchFamily="34" charset="-128"/>
                <a:cs typeface="Times New Roman" panose="02020603050405020304" pitchFamily="18" charset="0"/>
              </a:rPr>
              <a:t>(BSMTEF2022M042)</a:t>
            </a:r>
          </a:p>
          <a:p>
            <a:pPr marL="304756" lvl="1" algn="l">
              <a:lnSpc>
                <a:spcPct val="100000"/>
              </a:lnSpc>
            </a:pPr>
            <a:r>
              <a:rPr lang="en-US" sz="1800" b="1" dirty="0">
                <a:latin typeface="Times New Roman" panose="02020603050405020304" pitchFamily="18" charset="0"/>
                <a:ea typeface="Adobe Fan Heiti Std B" panose="020B0700000000000000" pitchFamily="34" charset="-128"/>
                <a:cs typeface="Times New Roman" panose="02020603050405020304" pitchFamily="18" charset="0"/>
              </a:rPr>
              <a:t>	 </a:t>
            </a:r>
            <a:r>
              <a:rPr lang="en-GB" sz="1800" b="1" dirty="0" err="1">
                <a:latin typeface="Times New Roman" panose="02020603050405020304" pitchFamily="18" charset="0"/>
                <a:ea typeface="Adobe Fan Heiti Std B" panose="020B0700000000000000" pitchFamily="34" charset="-128"/>
                <a:cs typeface="Times New Roman" panose="02020603050405020304" pitchFamily="18" charset="0"/>
              </a:rPr>
              <a:t>Samat</a:t>
            </a:r>
            <a:r>
              <a:rPr lang="en-GB" sz="1800" b="1" dirty="0">
                <a:latin typeface="Times New Roman" panose="02020603050405020304" pitchFamily="18" charset="0"/>
                <a:ea typeface="Adobe Fan Heiti Std B" panose="020B0700000000000000" pitchFamily="34" charset="-128"/>
                <a:cs typeface="Times New Roman" panose="02020603050405020304" pitchFamily="18" charset="0"/>
              </a:rPr>
              <a:t> Zahra </a:t>
            </a:r>
            <a:r>
              <a:rPr lang="en-US" sz="1800" dirty="0">
                <a:latin typeface="Times New Roman" panose="02020603050405020304" pitchFamily="18" charset="0"/>
                <a:ea typeface="Adobe Fan Heiti Std B" panose="020B0700000000000000" pitchFamily="34" charset="-128"/>
                <a:cs typeface="Times New Roman" panose="02020603050405020304" pitchFamily="18" charset="0"/>
              </a:rPr>
              <a:t>(BSMTEF2022M024)</a:t>
            </a:r>
          </a:p>
          <a:p>
            <a:pPr marL="304756" lvl="1" algn="l">
              <a:lnSpc>
                <a:spcPct val="100000"/>
              </a:lnSpc>
            </a:pPr>
            <a:r>
              <a:rPr lang="en-US" sz="1800" b="1" dirty="0">
                <a:latin typeface="Times New Roman" panose="02020603050405020304" pitchFamily="18" charset="0"/>
                <a:ea typeface="Adobe Fan Heiti Std B" panose="020B0700000000000000" pitchFamily="34" charset="-128"/>
                <a:cs typeface="Times New Roman" panose="02020603050405020304" pitchFamily="18" charset="0"/>
              </a:rPr>
              <a:t>	 </a:t>
            </a:r>
            <a:r>
              <a:rPr lang="en-GB" sz="1800" b="1" dirty="0" err="1">
                <a:latin typeface="Times New Roman" panose="02020603050405020304" pitchFamily="18" charset="0"/>
                <a:ea typeface="Adobe Fan Heiti Std B" panose="020B0700000000000000" pitchFamily="34" charset="-128"/>
                <a:cs typeface="Times New Roman" panose="02020603050405020304" pitchFamily="18" charset="0"/>
              </a:rPr>
              <a:t>Fareeha</a:t>
            </a:r>
            <a:r>
              <a:rPr lang="en-US" sz="1800" b="1" dirty="0">
                <a:latin typeface="Times New Roman" panose="02020603050405020304" pitchFamily="18" charset="0"/>
                <a:ea typeface="Adobe Fan Heiti Std B" panose="020B0700000000000000" pitchFamily="34" charset="-128"/>
                <a:cs typeface="Times New Roman" panose="02020603050405020304" pitchFamily="18" charset="0"/>
              </a:rPr>
              <a:t> </a:t>
            </a:r>
            <a:r>
              <a:rPr lang="en-US" sz="1800" dirty="0">
                <a:latin typeface="Times New Roman" panose="02020603050405020304" pitchFamily="18" charset="0"/>
                <a:ea typeface="Adobe Fan Heiti Std B" panose="020B0700000000000000" pitchFamily="34" charset="-128"/>
                <a:cs typeface="Times New Roman" panose="02020603050405020304" pitchFamily="18" charset="0"/>
              </a:rPr>
              <a:t>(BSMTEF2022M0</a:t>
            </a:r>
            <a:r>
              <a:rPr lang="en-GB" sz="1800" dirty="0">
                <a:latin typeface="Times New Roman" panose="02020603050405020304" pitchFamily="18" charset="0"/>
                <a:ea typeface="Adobe Fan Heiti Std B" panose="020B0700000000000000" pitchFamily="34" charset="-128"/>
                <a:cs typeface="Times New Roman" panose="02020603050405020304" pitchFamily="18" charset="0"/>
              </a:rPr>
              <a:t>37</a:t>
            </a:r>
            <a:r>
              <a:rPr lang="en-US" sz="1800" dirty="0">
                <a:latin typeface="Times New Roman" panose="02020603050405020304" pitchFamily="18" charset="0"/>
                <a:ea typeface="Adobe Fan Heiti Std B" panose="020B0700000000000000" pitchFamily="34" charset="-128"/>
                <a:cs typeface="Times New Roman" panose="02020603050405020304" pitchFamily="18" charset="0"/>
              </a:rPr>
              <a:t>)</a:t>
            </a:r>
          </a:p>
          <a:p>
            <a:pPr marL="304756" lvl="1" algn="l">
              <a:lnSpc>
                <a:spcPct val="100000"/>
              </a:lnSpc>
            </a:pPr>
            <a:r>
              <a:rPr lang="en-US" sz="1800" b="1" dirty="0">
                <a:latin typeface="Times New Roman" panose="02020603050405020304" pitchFamily="18" charset="0"/>
                <a:ea typeface="Adobe Fan Heiti Std B" panose="020B0700000000000000" pitchFamily="34" charset="-128"/>
                <a:cs typeface="Times New Roman" panose="02020603050405020304" pitchFamily="18" charset="0"/>
              </a:rPr>
              <a:t>	 </a:t>
            </a:r>
            <a:r>
              <a:rPr lang="en-GB" sz="1800" b="1" dirty="0" err="1">
                <a:latin typeface="Times New Roman" panose="02020603050405020304" pitchFamily="18" charset="0"/>
                <a:ea typeface="Adobe Fan Heiti Std B" panose="020B0700000000000000" pitchFamily="34" charset="-128"/>
                <a:cs typeface="Times New Roman" panose="02020603050405020304" pitchFamily="18" charset="0"/>
              </a:rPr>
              <a:t>Mutte</a:t>
            </a:r>
            <a:r>
              <a:rPr lang="en-GB" sz="1800" b="1" dirty="0">
                <a:latin typeface="Times New Roman" panose="02020603050405020304" pitchFamily="18" charset="0"/>
                <a:ea typeface="Adobe Fan Heiti Std B" panose="020B0700000000000000" pitchFamily="34" charset="-128"/>
                <a:cs typeface="Times New Roman" panose="02020603050405020304" pitchFamily="18" charset="0"/>
              </a:rPr>
              <a:t> Ur </a:t>
            </a:r>
            <a:r>
              <a:rPr lang="en-GB" sz="1800" b="1" dirty="0" err="1">
                <a:latin typeface="Times New Roman" panose="02020603050405020304" pitchFamily="18" charset="0"/>
                <a:ea typeface="Adobe Fan Heiti Std B" panose="020B0700000000000000" pitchFamily="34" charset="-128"/>
                <a:cs typeface="Times New Roman" panose="02020603050405020304" pitchFamily="18" charset="0"/>
              </a:rPr>
              <a:t>Rehman</a:t>
            </a:r>
            <a:r>
              <a:rPr lang="en-GB" sz="1800" b="1" dirty="0">
                <a:latin typeface="Times New Roman" panose="02020603050405020304" pitchFamily="18" charset="0"/>
                <a:ea typeface="Adobe Fan Heiti Std B" panose="020B0700000000000000" pitchFamily="34" charset="-128"/>
                <a:cs typeface="Times New Roman" panose="02020603050405020304" pitchFamily="18" charset="0"/>
              </a:rPr>
              <a:t> </a:t>
            </a:r>
            <a:r>
              <a:rPr lang="en-US" sz="1800" dirty="0">
                <a:latin typeface="Times New Roman" panose="02020603050405020304" pitchFamily="18" charset="0"/>
                <a:ea typeface="Adobe Fan Heiti Std B" panose="020B0700000000000000" pitchFamily="34" charset="-128"/>
                <a:cs typeface="Times New Roman" panose="02020603050405020304" pitchFamily="18" charset="0"/>
              </a:rPr>
              <a:t>(BSMTEF2022M0</a:t>
            </a:r>
            <a:r>
              <a:rPr lang="en-GB" sz="1800" dirty="0">
                <a:latin typeface="Times New Roman" panose="02020603050405020304" pitchFamily="18" charset="0"/>
                <a:ea typeface="Adobe Fan Heiti Std B" panose="020B0700000000000000" pitchFamily="34" charset="-128"/>
                <a:cs typeface="Times New Roman" panose="02020603050405020304" pitchFamily="18" charset="0"/>
              </a:rPr>
              <a:t>28)</a:t>
            </a:r>
            <a:endParaRPr lang="en-US" sz="1800" dirty="0">
              <a:latin typeface="Times New Roman" panose="02020603050405020304" pitchFamily="18" charset="0"/>
              <a:ea typeface="Adobe Fan Heiti Std B" panose="020B0700000000000000" pitchFamily="34" charset="-128"/>
              <a:cs typeface="Times New Roman" panose="02020603050405020304" pitchFamily="18" charset="0"/>
            </a:endParaRPr>
          </a:p>
          <a:p>
            <a:pPr marL="304756" lvl="1" algn="l">
              <a:lnSpc>
                <a:spcPct val="100000"/>
              </a:lnSpc>
            </a:pPr>
            <a:endParaRPr lang="en-US" sz="1800" b="1" dirty="0">
              <a:latin typeface="Times New Roman" panose="02020603050405020304" pitchFamily="18" charset="0"/>
              <a:ea typeface="Adobe Fan Heiti Std B" panose="020B0700000000000000" pitchFamily="34" charset="-128"/>
              <a:cs typeface="Times New Roman" panose="02020603050405020304" pitchFamily="18" charset="0"/>
            </a:endParaRPr>
          </a:p>
          <a:p>
            <a:pPr marL="304756" lvl="1" algn="l">
              <a:lnSpc>
                <a:spcPct val="100000"/>
              </a:lnSpc>
            </a:pPr>
            <a:r>
              <a:rPr lang="en-US" sz="1800" b="1" dirty="0">
                <a:latin typeface="Times New Roman" panose="02020603050405020304" pitchFamily="18" charset="0"/>
                <a:ea typeface="Adobe Fan Heiti Std B" panose="020B0700000000000000" pitchFamily="34" charset="-128"/>
                <a:cs typeface="Times New Roman" panose="02020603050405020304" pitchFamily="18" charset="0"/>
              </a:rPr>
              <a:t>	 </a:t>
            </a:r>
            <a:r>
              <a:rPr lang="en-US" sz="2133" b="1" dirty="0">
                <a:solidFill>
                  <a:srgbClr val="FF0000"/>
                </a:solidFill>
                <a:latin typeface="Bookman Old Style" panose="02050604050505020204" pitchFamily="18" charset="0"/>
                <a:ea typeface="Adobe Fan Heiti Std B" panose="020B0700000000000000" pitchFamily="34" charset="-128"/>
                <a:cs typeface="Calibri" panose="020F0502020204030204" pitchFamily="34" charset="0"/>
              </a:rPr>
              <a:t>Supervised by:</a:t>
            </a:r>
          </a:p>
          <a:p>
            <a:pPr marL="304756" lvl="1" algn="l">
              <a:lnSpc>
                <a:spcPct val="100000"/>
              </a:lnSpc>
            </a:pPr>
            <a:r>
              <a:rPr lang="en-US" sz="2133" b="1" dirty="0">
                <a:solidFill>
                  <a:srgbClr val="FF0000"/>
                </a:solidFill>
                <a:latin typeface="Bookman Old Style" panose="02050604050505020204" pitchFamily="18" charset="0"/>
                <a:ea typeface="Adobe Fan Heiti Std B" panose="020B0700000000000000" pitchFamily="34" charset="-128"/>
                <a:cs typeface="Calibri" panose="020F0502020204030204" pitchFamily="34" charset="0"/>
              </a:rPr>
              <a:t>	</a:t>
            </a:r>
            <a:r>
              <a:rPr lang="en-GB" sz="1800" dirty="0" err="1">
                <a:solidFill>
                  <a:srgbClr val="000000"/>
                </a:solidFill>
                <a:latin typeface="Times New Roman" panose="02020603050405020304" pitchFamily="18" charset="0"/>
                <a:ea typeface="Adobe Fan Heiti Std B" panose="020B0700000000000000" pitchFamily="34" charset="-128"/>
                <a:cs typeface="Times New Roman" panose="02020603050405020304" pitchFamily="18" charset="0"/>
              </a:rPr>
              <a:t>Arqam</a:t>
            </a:r>
            <a:r>
              <a:rPr lang="en-GB" sz="1800" dirty="0">
                <a:solidFill>
                  <a:srgbClr val="000000"/>
                </a:solidFill>
                <a:latin typeface="Times New Roman" panose="02020603050405020304" pitchFamily="18" charset="0"/>
                <a:ea typeface="Adobe Fan Heiti Std B" panose="020B0700000000000000" pitchFamily="34" charset="-128"/>
                <a:cs typeface="Times New Roman" panose="02020603050405020304" pitchFamily="18" charset="0"/>
              </a:rPr>
              <a:t> </a:t>
            </a:r>
            <a:r>
              <a:rPr lang="en-GB" sz="1800" dirty="0" err="1">
                <a:solidFill>
                  <a:srgbClr val="000000"/>
                </a:solidFill>
                <a:latin typeface="Times New Roman" panose="02020603050405020304" pitchFamily="18" charset="0"/>
                <a:ea typeface="Adobe Fan Heiti Std B" panose="020B0700000000000000" pitchFamily="34" charset="-128"/>
                <a:cs typeface="Times New Roman" panose="02020603050405020304" pitchFamily="18" charset="0"/>
              </a:rPr>
              <a:t>razzaq</a:t>
            </a:r>
            <a:r>
              <a:rPr lang="en-GB" sz="1800" dirty="0">
                <a:solidFill>
                  <a:srgbClr val="000000"/>
                </a:solidFill>
                <a:latin typeface="Times New Roman" panose="02020603050405020304" pitchFamily="18" charset="0"/>
                <a:ea typeface="Adobe Fan Heiti Std B" panose="020B0700000000000000" pitchFamily="34" charset="-128"/>
                <a:cs typeface="Times New Roman" panose="02020603050405020304" pitchFamily="18" charset="0"/>
              </a:rPr>
              <a:t> </a:t>
            </a:r>
            <a:endParaRPr lang="en-US" sz="1800" dirty="0">
              <a:solidFill>
                <a:srgbClr val="000000"/>
              </a:solidFill>
              <a:latin typeface="Times New Roman" panose="02020603050405020304" pitchFamily="18" charset="0"/>
              <a:ea typeface="Adobe Fan Heiti Std B" panose="020B0700000000000000" pitchFamily="34" charset="-128"/>
              <a:cs typeface="Times New Roman" panose="02020603050405020304" pitchFamily="18" charset="0"/>
            </a:endParaRPr>
          </a:p>
          <a:p>
            <a:pPr marL="304756" lvl="1" algn="l">
              <a:lnSpc>
                <a:spcPct val="100000"/>
              </a:lnSpc>
            </a:pPr>
            <a:r>
              <a:rPr lang="en-US" sz="1800" b="1" dirty="0">
                <a:latin typeface="Times New Roman" panose="02020603050405020304" pitchFamily="18" charset="0"/>
                <a:ea typeface="Adobe Fan Heiti Std B" panose="020B0700000000000000" pitchFamily="34" charset="-128"/>
                <a:cs typeface="Times New Roman" panose="02020603050405020304" pitchFamily="18" charset="0"/>
              </a:rPr>
              <a:t>           </a:t>
            </a:r>
            <a:r>
              <a:rPr lang="en-US" sz="1800" dirty="0">
                <a:latin typeface="Times New Roman" panose="02020603050405020304" pitchFamily="18" charset="0"/>
                <a:ea typeface="Adobe Fan Heiti Std B" panose="020B0700000000000000" pitchFamily="34" charset="-128"/>
                <a:cs typeface="Times New Roman" panose="02020603050405020304" pitchFamily="18" charset="0"/>
              </a:rPr>
              <a:t>Department of Mechatronics Engineering</a:t>
            </a:r>
          </a:p>
          <a:p>
            <a:pPr marL="304756" lvl="1" algn="l">
              <a:lnSpc>
                <a:spcPct val="100000"/>
              </a:lnSpc>
            </a:pPr>
            <a:r>
              <a:rPr lang="en-US" sz="1800" dirty="0">
                <a:latin typeface="Times New Roman" panose="02020603050405020304" pitchFamily="18" charset="0"/>
                <a:ea typeface="Adobe Fan Heiti Std B" panose="020B0700000000000000" pitchFamily="34" charset="-128"/>
                <a:cs typeface="Times New Roman" panose="02020603050405020304" pitchFamily="18" charset="0"/>
              </a:rPr>
              <a:t>           University of Chakwal</a:t>
            </a:r>
          </a:p>
          <a:p>
            <a:pPr marL="304756" lvl="1">
              <a:lnSpc>
                <a:spcPct val="100000"/>
              </a:lnSpc>
            </a:pPr>
            <a:r>
              <a:rPr lang="en-US" sz="1800" b="1" i="1" dirty="0">
                <a:latin typeface="Times New Roman" panose="02020603050405020304" pitchFamily="18" charset="0"/>
                <a:ea typeface="Adobe Fan Heiti Std B" panose="020B0700000000000000" pitchFamily="34" charset="-128"/>
                <a:cs typeface="Times New Roman" panose="02020603050405020304" pitchFamily="18" charset="0"/>
              </a:rPr>
              <a:t>  	</a:t>
            </a:r>
          </a:p>
          <a:p>
            <a:endParaRPr lang="en-US" sz="2667" b="1" dirty="0">
              <a:solidFill>
                <a:schemeClr val="bg1"/>
              </a:solidFill>
              <a:latin typeface="Calibri" panose="020F0502020204030204" pitchFamily="34" charset="0"/>
              <a:ea typeface="Adobe Fan Heiti Std B" panose="020B0700000000000000" pitchFamily="34" charset="-128"/>
              <a:cs typeface="Calibri" panose="020F0502020204030204" pitchFamily="34" charset="0"/>
            </a:endParaRPr>
          </a:p>
        </p:txBody>
      </p:sp>
      <p:pic>
        <p:nvPicPr>
          <p:cNvPr id="5" name="Picture 4">
            <a:extLst>
              <a:ext uri="{FF2B5EF4-FFF2-40B4-BE49-F238E27FC236}">
                <a16:creationId xmlns:a16="http://schemas.microsoft.com/office/drawing/2014/main" id="{87C79B12-F81A-458D-A3C2-787093E144C6}"/>
              </a:ext>
            </a:extLst>
          </p:cNvPr>
          <p:cNvPicPr>
            <a:picLocks noChangeAspect="1" noChangeArrowheads="1"/>
          </p:cNvPicPr>
          <p:nvPr/>
        </p:nvPicPr>
        <p:blipFill>
          <a:blip r:embed="rId3"/>
          <a:srcRect/>
          <a:stretch/>
        </p:blipFill>
        <p:spPr bwMode="auto">
          <a:xfrm>
            <a:off x="6096000" y="2342448"/>
            <a:ext cx="4762500"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6379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838200" y="280216"/>
            <a:ext cx="7517524" cy="769441"/>
          </a:xfrm>
          <a:prstGeom prst="rect">
            <a:avLst/>
          </a:prstGeom>
          <a:noFill/>
        </p:spPr>
        <p:txBody>
          <a:bodyPr wrap="square" rtlCol="0">
            <a:spAutoFit/>
          </a:bodyPr>
          <a:lstStyle/>
          <a:p>
            <a:pPr algn="just"/>
            <a:r>
              <a:rPr lang="en-US" sz="4400" b="1" dirty="0">
                <a:solidFill>
                  <a:srgbClr val="FF0000"/>
                </a:solidFill>
                <a:latin typeface="Times New Roman" panose="02020603050405020304" pitchFamily="18" charset="0"/>
                <a:cs typeface="Times New Roman" panose="02020603050405020304" pitchFamily="18" charset="0"/>
              </a:rPr>
              <a:t>Introduction</a:t>
            </a:r>
            <a:endParaRPr lang="en-US" sz="4400" dirty="0">
              <a:solidFill>
                <a:srgbClr val="FF0000"/>
              </a:solidFill>
              <a:latin typeface="Times New Roman" panose="02020603050405020304" pitchFamily="18" charset="0"/>
              <a:cs typeface="Times New Roman" panose="02020603050405020304" pitchFamily="18" charset="0"/>
            </a:endParaRPr>
          </a:p>
        </p:txBody>
      </p:sp>
      <p:pic>
        <p:nvPicPr>
          <p:cNvPr id="11" name="Picture 6" descr="University of Chakwal"/>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821337" y="511443"/>
            <a:ext cx="6022703" cy="5104731"/>
          </a:xfrm>
          <a:prstGeom prst="rect">
            <a:avLst/>
          </a:prstGeom>
          <a:noFill/>
          <a:ln>
            <a:noFill/>
          </a:ln>
          <a:effectLst/>
          <a:scene3d>
            <a:camera prst="orthographicFront">
              <a:rot lat="0" lon="0" rev="0"/>
            </a:camera>
            <a:lightRig rig="chilly" dir="t">
              <a:rot lat="0" lon="0" rev="18480000"/>
            </a:lightRig>
          </a:scene3d>
          <a:sp3d prstMaterial="clear">
            <a:bevelT h="63500"/>
          </a:sp3d>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29A7BC41-D1A1-45B9-ADAA-F14E71F3B671}"/>
              </a:ext>
            </a:extLst>
          </p:cNvPr>
          <p:cNvSpPr>
            <a:spLocks noGrp="1"/>
          </p:cNvSpPr>
          <p:nvPr>
            <p:ph type="dt" sz="half" idx="10"/>
          </p:nvPr>
        </p:nvSpPr>
        <p:spPr/>
        <p:txBody>
          <a:bodyPr/>
          <a:lstStyle/>
          <a:p>
            <a:fld id="{631FCDAA-3682-4661-977D-E00C34CE194A}" type="datetime2">
              <a:rPr lang="en-US" smtClean="0"/>
              <a:t>Wednesday, May 20, 2026</a:t>
            </a:fld>
            <a:endParaRPr lang="en-US" dirty="0"/>
          </a:p>
        </p:txBody>
      </p:sp>
      <p:sp>
        <p:nvSpPr>
          <p:cNvPr id="3" name="Footer Placeholder 2">
            <a:extLst>
              <a:ext uri="{FF2B5EF4-FFF2-40B4-BE49-F238E27FC236}">
                <a16:creationId xmlns:a16="http://schemas.microsoft.com/office/drawing/2014/main" id="{611688EA-E722-48BB-B34E-4BF3C639A9C2}"/>
              </a:ext>
            </a:extLst>
          </p:cNvPr>
          <p:cNvSpPr>
            <a:spLocks noGrp="1"/>
          </p:cNvSpPr>
          <p:nvPr>
            <p:ph type="ftr" sz="quarter" idx="11"/>
          </p:nvPr>
        </p:nvSpPr>
        <p:spPr/>
        <p:txBody>
          <a:bodyPr/>
          <a:lstStyle/>
          <a:p>
            <a:r>
              <a:rPr lang="en-US"/>
              <a:t>Final Year Design Project</a:t>
            </a:r>
            <a:endParaRPr lang="en-US" dirty="0"/>
          </a:p>
        </p:txBody>
      </p:sp>
      <p:sp>
        <p:nvSpPr>
          <p:cNvPr id="6" name="TextBox 5">
            <a:extLst>
              <a:ext uri="{FF2B5EF4-FFF2-40B4-BE49-F238E27FC236}">
                <a16:creationId xmlns:a16="http://schemas.microsoft.com/office/drawing/2014/main" id="{EC12DBF0-CDCB-E333-2129-59C6DA3233A1}"/>
              </a:ext>
            </a:extLst>
          </p:cNvPr>
          <p:cNvSpPr txBox="1"/>
          <p:nvPr/>
        </p:nvSpPr>
        <p:spPr>
          <a:xfrm>
            <a:off x="6493307" y="491104"/>
            <a:ext cx="4333870" cy="3693319"/>
          </a:xfrm>
          <a:prstGeom prst="rect">
            <a:avLst/>
          </a:prstGeom>
          <a:noFill/>
        </p:spPr>
        <p:txBody>
          <a:bodyPr wrap="square">
            <a:spAutoFit/>
          </a:bodyPr>
          <a:lstStyle/>
          <a:p>
            <a:r>
              <a:rPr lang="en-US" sz="2600" b="1" dirty="0">
                <a:latin typeface="Times New Roman" panose="02020603050405020304" pitchFamily="18" charset="0"/>
                <a:cs typeface="Times New Roman" panose="02020603050405020304" pitchFamily="18" charset="0"/>
              </a:rPr>
              <a:t>Our Project Focus:</a:t>
            </a:r>
          </a:p>
          <a:p>
            <a:r>
              <a:rPr lang="en-GB" sz="2600" dirty="0">
                <a:latin typeface="Times New Roman" panose="02020603050405020304" pitchFamily="18" charset="0"/>
                <a:cs typeface="Times New Roman" panose="02020603050405020304" pitchFamily="18" charset="0"/>
              </a:rPr>
              <a:t>The main focus of our project is to integrate computer vision, PLC control, conveyor automation, and robotic arm operation into a single intelligent system for automatic chromatic sorting in industrial applications.</a:t>
            </a:r>
            <a:endParaRPr lang="en-US" sz="2600"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2C373A34-2CC4-823F-5235-2514187B4343}"/>
              </a:ext>
            </a:extLst>
          </p:cNvPr>
          <p:cNvSpPr>
            <a:spLocks noGrp="1"/>
          </p:cNvSpPr>
          <p:nvPr>
            <p:ph idx="1"/>
          </p:nvPr>
        </p:nvSpPr>
        <p:spPr>
          <a:xfrm>
            <a:off x="967516" y="1049657"/>
            <a:ext cx="4731178" cy="4797744"/>
          </a:xfrm>
        </p:spPr>
        <p:txBody>
          <a:bodyPr>
            <a:normAutofit fontScale="92500" lnSpcReduction="20000"/>
          </a:bodyPr>
          <a:lstStyle/>
          <a:p>
            <a:r>
              <a:rPr lang="en-GB" dirty="0"/>
              <a:t>In this system:
Objects move on the conveyor belt.
A mobile camera captures the object image.
The system identifies the object </a:t>
            </a:r>
            <a:r>
              <a:rPr lang="en-GB" dirty="0" err="1"/>
              <a:t>color</a:t>
            </a:r>
            <a:r>
              <a:rPr lang="en-GB" dirty="0"/>
              <a:t> through image processing.
The PLC receives the detection signal.
The robotic arm performs pick-and-place operation.
The object is sorted into the correct bin automatically.</a:t>
            </a:r>
            <a:endParaRPr lang="en-US" dirty="0"/>
          </a:p>
        </p:txBody>
      </p:sp>
    </p:spTree>
    <p:extLst>
      <p:ext uri="{BB962C8B-B14F-4D97-AF65-F5344CB8AC3E}">
        <p14:creationId xmlns:p14="http://schemas.microsoft.com/office/powerpoint/2010/main" val="1638104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E14B2-66B7-3E51-9C65-6FBD0FA86E97}"/>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52E89EB7-1D06-1607-2316-D175E88DCA27}"/>
              </a:ext>
            </a:extLst>
          </p:cNvPr>
          <p:cNvSpPr txBox="1"/>
          <p:nvPr/>
        </p:nvSpPr>
        <p:spPr>
          <a:xfrm>
            <a:off x="838200" y="280216"/>
            <a:ext cx="7517524" cy="769441"/>
          </a:xfrm>
          <a:prstGeom prst="rect">
            <a:avLst/>
          </a:prstGeom>
          <a:noFill/>
        </p:spPr>
        <p:txBody>
          <a:bodyPr wrap="square" rtlCol="0">
            <a:spAutoFit/>
          </a:bodyPr>
          <a:lstStyle/>
          <a:p>
            <a:pPr algn="just"/>
            <a:r>
              <a:rPr lang="en-US" sz="4400" b="1" dirty="0">
                <a:solidFill>
                  <a:srgbClr val="FF0000"/>
                </a:solidFill>
                <a:latin typeface="Times New Roman" panose="02020603050405020304" pitchFamily="18" charset="0"/>
                <a:cs typeface="Times New Roman" panose="02020603050405020304" pitchFamily="18" charset="0"/>
              </a:rPr>
              <a:t>Statement</a:t>
            </a:r>
            <a:endParaRPr lang="en-US" sz="4400" dirty="0">
              <a:solidFill>
                <a:srgbClr val="FF000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FBBCB9F8-2277-102A-B3A0-3F4A10721F80}"/>
              </a:ext>
            </a:extLst>
          </p:cNvPr>
          <p:cNvSpPr>
            <a:spLocks noGrp="1"/>
          </p:cNvSpPr>
          <p:nvPr>
            <p:ph idx="1"/>
          </p:nvPr>
        </p:nvSpPr>
        <p:spPr>
          <a:xfrm>
            <a:off x="1248996" y="742670"/>
            <a:ext cx="5039264" cy="5104731"/>
          </a:xfrm>
        </p:spPr>
        <p:txBody>
          <a:bodyPr>
            <a:noAutofit/>
          </a:bodyPr>
          <a:lstStyle/>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Existing Limitations</a:t>
            </a:r>
          </a:p>
          <a:p>
            <a:r>
              <a:rPr lang="en-GB" dirty="0">
                <a:latin typeface="Times New Roman" panose="02020603050405020304" pitchFamily="18" charset="0"/>
                <a:cs typeface="Times New Roman" panose="02020603050405020304" pitchFamily="18" charset="0"/>
              </a:rPr>
              <a:t>Human errors
Slow sorting
High </a:t>
            </a:r>
            <a:r>
              <a:rPr lang="en-GB" dirty="0" err="1">
                <a:latin typeface="Times New Roman" panose="02020603050405020304" pitchFamily="18" charset="0"/>
                <a:cs typeface="Times New Roman" panose="02020603050405020304" pitchFamily="18" charset="0"/>
              </a:rPr>
              <a:t>labor</a:t>
            </a:r>
            <a:r>
              <a:rPr lang="en-GB" dirty="0">
                <a:latin typeface="Times New Roman" panose="02020603050405020304" pitchFamily="18" charset="0"/>
                <a:cs typeface="Times New Roman" panose="02020603050405020304" pitchFamily="18" charset="0"/>
              </a:rPr>
              <a:t> cost
Low efficiency
Limited automation</a:t>
            </a:r>
            <a:endParaRPr lang="en-US" dirty="0">
              <a:latin typeface="Times New Roman" panose="02020603050405020304" pitchFamily="18" charset="0"/>
              <a:cs typeface="Times New Roman" panose="02020603050405020304" pitchFamily="18" charset="0"/>
            </a:endParaRPr>
          </a:p>
        </p:txBody>
      </p:sp>
      <p:pic>
        <p:nvPicPr>
          <p:cNvPr id="11" name="Picture 6" descr="University of Chakwal">
            <a:extLst>
              <a:ext uri="{FF2B5EF4-FFF2-40B4-BE49-F238E27FC236}">
                <a16:creationId xmlns:a16="http://schemas.microsoft.com/office/drawing/2014/main" id="{2F21FD48-91E4-27B1-BD4E-0C86F947816E}"/>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821337" y="511443"/>
            <a:ext cx="6022703" cy="5104731"/>
          </a:xfrm>
          <a:prstGeom prst="rect">
            <a:avLst/>
          </a:prstGeom>
          <a:noFill/>
          <a:ln>
            <a:noFill/>
          </a:ln>
          <a:effectLst/>
          <a:scene3d>
            <a:camera prst="orthographicFront">
              <a:rot lat="0" lon="0" rev="0"/>
            </a:camera>
            <a:lightRig rig="chilly" dir="t">
              <a:rot lat="0" lon="0" rev="18480000"/>
            </a:lightRig>
          </a:scene3d>
          <a:sp3d prstMaterial="clear">
            <a:bevelT h="63500"/>
          </a:sp3d>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FB488B9E-1CEB-A9CC-80A5-378ACC30EDE8}"/>
              </a:ext>
            </a:extLst>
          </p:cNvPr>
          <p:cNvSpPr>
            <a:spLocks noGrp="1"/>
          </p:cNvSpPr>
          <p:nvPr>
            <p:ph type="dt" sz="half" idx="10"/>
          </p:nvPr>
        </p:nvSpPr>
        <p:spPr/>
        <p:txBody>
          <a:bodyPr/>
          <a:lstStyle/>
          <a:p>
            <a:fld id="{631FCDAA-3682-4661-977D-E00C34CE194A}" type="datetime2">
              <a:rPr lang="en-US" smtClean="0"/>
              <a:t>Wednesday, May 20, 2026</a:t>
            </a:fld>
            <a:endParaRPr lang="en-US" dirty="0"/>
          </a:p>
        </p:txBody>
      </p:sp>
      <p:sp>
        <p:nvSpPr>
          <p:cNvPr id="3" name="Footer Placeholder 2">
            <a:extLst>
              <a:ext uri="{FF2B5EF4-FFF2-40B4-BE49-F238E27FC236}">
                <a16:creationId xmlns:a16="http://schemas.microsoft.com/office/drawing/2014/main" id="{66E00C50-919E-42FA-92E0-9EC6D3E556EC}"/>
              </a:ext>
            </a:extLst>
          </p:cNvPr>
          <p:cNvSpPr>
            <a:spLocks noGrp="1"/>
          </p:cNvSpPr>
          <p:nvPr>
            <p:ph type="ftr" sz="quarter" idx="11"/>
          </p:nvPr>
        </p:nvSpPr>
        <p:spPr/>
        <p:txBody>
          <a:bodyPr/>
          <a:lstStyle/>
          <a:p>
            <a:r>
              <a:rPr lang="en-US"/>
              <a:t>Final Year Design Project</a:t>
            </a:r>
            <a:endParaRPr lang="en-US" dirty="0"/>
          </a:p>
        </p:txBody>
      </p:sp>
      <p:sp>
        <p:nvSpPr>
          <p:cNvPr id="6" name="TextBox 5">
            <a:extLst>
              <a:ext uri="{FF2B5EF4-FFF2-40B4-BE49-F238E27FC236}">
                <a16:creationId xmlns:a16="http://schemas.microsoft.com/office/drawing/2014/main" id="{72E1292B-52C4-C0E9-BE99-BAF41C80858E}"/>
              </a:ext>
            </a:extLst>
          </p:cNvPr>
          <p:cNvSpPr txBox="1"/>
          <p:nvPr/>
        </p:nvSpPr>
        <p:spPr>
          <a:xfrm>
            <a:off x="6609134" y="1659285"/>
            <a:ext cx="4333870" cy="353943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Research Gap</a:t>
            </a:r>
          </a:p>
          <a:p>
            <a:r>
              <a:rPr lang="en-GB" sz="2800" dirty="0">
                <a:latin typeface="Times New Roman" panose="02020603050405020304" pitchFamily="18" charset="0"/>
                <a:cs typeface="Times New Roman" panose="02020603050405020304" pitchFamily="18" charset="0"/>
              </a:rPr>
              <a:t>Need smart PLC automation
Limited camera-based sorting systems
Lack of low-cost intelligent solutions
Need better accuracy and flexibility</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6360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University of Chakwal"/>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86590" y="391298"/>
            <a:ext cx="6022703" cy="5104731"/>
          </a:xfrm>
          <a:prstGeom prst="rect">
            <a:avLst/>
          </a:prstGeom>
          <a:noFill/>
          <a:ln>
            <a:noFill/>
          </a:ln>
          <a:effectLst/>
          <a:scene3d>
            <a:camera prst="orthographicFront">
              <a:rot lat="0" lon="0" rev="0"/>
            </a:camera>
            <a:lightRig rig="chilly" dir="t">
              <a:rot lat="0" lon="0" rev="18480000"/>
            </a:lightRig>
          </a:scene3d>
          <a:sp3d prstMaterial="clear">
            <a:bevelT h="63500"/>
          </a:sp3d>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a:xfrm>
            <a:off x="978877" y="674273"/>
            <a:ext cx="9149093" cy="597240"/>
          </a:xfrm>
        </p:spPr>
        <p:txBody>
          <a:bodyPr>
            <a:normAutofit fontScale="90000"/>
          </a:bodyPr>
          <a:lstStyle/>
          <a:p>
            <a:r>
              <a:rPr lang="en-US" sz="4000" b="1" dirty="0">
                <a:solidFill>
                  <a:srgbClr val="FF0000"/>
                </a:solidFill>
                <a:latin typeface="Times New Roman" panose="02020603050405020304" pitchFamily="18" charset="0"/>
                <a:cs typeface="Times New Roman" panose="02020603050405020304" pitchFamily="18" charset="0"/>
              </a:rPr>
              <a:t>Project Objectives</a:t>
            </a:r>
          </a:p>
        </p:txBody>
      </p:sp>
      <p:sp>
        <p:nvSpPr>
          <p:cNvPr id="4" name="TextBox 3">
            <a:extLst>
              <a:ext uri="{FF2B5EF4-FFF2-40B4-BE49-F238E27FC236}">
                <a16:creationId xmlns:a16="http://schemas.microsoft.com/office/drawing/2014/main" id="{50BFCA06-D917-4740-A4C2-892BBA4E2B72}"/>
              </a:ext>
            </a:extLst>
          </p:cNvPr>
          <p:cNvSpPr txBox="1"/>
          <p:nvPr/>
        </p:nvSpPr>
        <p:spPr>
          <a:xfrm>
            <a:off x="838200" y="1271513"/>
            <a:ext cx="7628661" cy="353943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Main Objectives</a:t>
            </a:r>
          </a:p>
          <a:p>
            <a:r>
              <a:rPr lang="en-GB" sz="2800" dirty="0">
                <a:latin typeface="Times New Roman" panose="02020603050405020304" pitchFamily="18" charset="0"/>
                <a:cs typeface="Times New Roman" panose="02020603050405020304" pitchFamily="18" charset="0"/>
              </a:rPr>
              <a:t>Smart automated sorting
 PLC-based control system
 Mobile camera detection
reduce human effort
Improve accuracy and speed
conveyor  and robotic arm integration
Real-time industrial automation</a:t>
            </a:r>
          </a:p>
        </p:txBody>
      </p:sp>
      <p:sp>
        <p:nvSpPr>
          <p:cNvPr id="3" name="Date Placeholder 2">
            <a:extLst>
              <a:ext uri="{FF2B5EF4-FFF2-40B4-BE49-F238E27FC236}">
                <a16:creationId xmlns:a16="http://schemas.microsoft.com/office/drawing/2014/main" id="{DC5F61BD-2A8E-4093-8C4F-ADED52B5FCC3}"/>
              </a:ext>
            </a:extLst>
          </p:cNvPr>
          <p:cNvSpPr>
            <a:spLocks noGrp="1"/>
          </p:cNvSpPr>
          <p:nvPr>
            <p:ph type="dt" sz="half" idx="10"/>
          </p:nvPr>
        </p:nvSpPr>
        <p:spPr/>
        <p:txBody>
          <a:bodyPr/>
          <a:lstStyle/>
          <a:p>
            <a:fld id="{6C162C20-4047-4FD5-A177-680B3DB912C2}" type="datetime2">
              <a:rPr lang="en-US" smtClean="0"/>
              <a:t>Wednesday, May 20, 2026</a:t>
            </a:fld>
            <a:endParaRPr lang="en-US" dirty="0"/>
          </a:p>
        </p:txBody>
      </p:sp>
      <p:sp>
        <p:nvSpPr>
          <p:cNvPr id="5" name="Footer Placeholder 4">
            <a:extLst>
              <a:ext uri="{FF2B5EF4-FFF2-40B4-BE49-F238E27FC236}">
                <a16:creationId xmlns:a16="http://schemas.microsoft.com/office/drawing/2014/main" id="{E6077399-9DEB-415A-A94F-5FEB511AFF4B}"/>
              </a:ext>
            </a:extLst>
          </p:cNvPr>
          <p:cNvSpPr>
            <a:spLocks noGrp="1"/>
          </p:cNvSpPr>
          <p:nvPr>
            <p:ph type="ftr" sz="quarter" idx="11"/>
          </p:nvPr>
        </p:nvSpPr>
        <p:spPr/>
        <p:txBody>
          <a:bodyPr/>
          <a:lstStyle/>
          <a:p>
            <a:r>
              <a:rPr lang="en-US"/>
              <a:t>Final Year Design Project</a:t>
            </a:r>
            <a:endParaRPr lang="en-US" dirty="0"/>
          </a:p>
        </p:txBody>
      </p:sp>
    </p:spTree>
    <p:extLst>
      <p:ext uri="{BB962C8B-B14F-4D97-AF65-F5344CB8AC3E}">
        <p14:creationId xmlns:p14="http://schemas.microsoft.com/office/powerpoint/2010/main" val="2772016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77F61-D0F8-F94F-4831-8FD130EEB48B}"/>
            </a:ext>
          </a:extLst>
        </p:cNvPr>
        <p:cNvGrpSpPr/>
        <p:nvPr/>
      </p:nvGrpSpPr>
      <p:grpSpPr>
        <a:xfrm>
          <a:off x="0" y="0"/>
          <a:ext cx="0" cy="0"/>
          <a:chOff x="0" y="0"/>
          <a:chExt cx="0" cy="0"/>
        </a:xfrm>
      </p:grpSpPr>
      <p:pic>
        <p:nvPicPr>
          <p:cNvPr id="2" name="Picture 6" descr="University of Chakwal">
            <a:extLst>
              <a:ext uri="{FF2B5EF4-FFF2-40B4-BE49-F238E27FC236}">
                <a16:creationId xmlns:a16="http://schemas.microsoft.com/office/drawing/2014/main" id="{60D836BC-B5A5-E18C-DB45-54FBE7D9B624}"/>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86590" y="391298"/>
            <a:ext cx="6022703" cy="5104731"/>
          </a:xfrm>
          <a:prstGeom prst="rect">
            <a:avLst/>
          </a:prstGeom>
          <a:noFill/>
          <a:ln>
            <a:noFill/>
          </a:ln>
          <a:effectLst/>
          <a:scene3d>
            <a:camera prst="orthographicFront">
              <a:rot lat="0" lon="0" rev="0"/>
            </a:camera>
            <a:lightRig rig="chilly" dir="t">
              <a:rot lat="0" lon="0" rev="18480000"/>
            </a:lightRig>
          </a:scene3d>
          <a:sp3d prstMaterial="clear">
            <a:bevelT h="63500"/>
          </a:sp3d>
          <a:extLst>
            <a:ext uri="{909E8E84-426E-40DD-AFC4-6F175D3DCCD1}">
              <a14:hiddenFill xmlns:a14="http://schemas.microsoft.com/office/drawing/2010/main">
                <a:solidFill>
                  <a:srgbClr val="FFFFFF"/>
                </a:solidFill>
              </a14:hiddenFill>
            </a:ext>
          </a:extLst>
        </p:spPr>
      </p:pic>
      <p:sp>
        <p:nvSpPr>
          <p:cNvPr id="8" name="Title 7">
            <a:extLst>
              <a:ext uri="{FF2B5EF4-FFF2-40B4-BE49-F238E27FC236}">
                <a16:creationId xmlns:a16="http://schemas.microsoft.com/office/drawing/2014/main" id="{314D18C1-49C3-DC40-694E-D114689BA343}"/>
              </a:ext>
            </a:extLst>
          </p:cNvPr>
          <p:cNvSpPr>
            <a:spLocks noGrp="1"/>
          </p:cNvSpPr>
          <p:nvPr>
            <p:ph type="title"/>
          </p:nvPr>
        </p:nvSpPr>
        <p:spPr>
          <a:xfrm>
            <a:off x="838200" y="-408802"/>
            <a:ext cx="9149093" cy="1600200"/>
          </a:xfrm>
        </p:spPr>
        <p:txBody>
          <a:bodyPr>
            <a:normAutofit/>
          </a:bodyPr>
          <a:lstStyle/>
          <a:p>
            <a:r>
              <a:rPr lang="en-US" sz="4000" b="1" dirty="0">
                <a:solidFill>
                  <a:srgbClr val="FF0000"/>
                </a:solidFill>
                <a:latin typeface="Times New Roman" panose="02020603050405020304" pitchFamily="18" charset="0"/>
                <a:cs typeface="Times New Roman" panose="02020603050405020304" pitchFamily="18" charset="0"/>
              </a:rPr>
              <a:t>Flow Chat</a:t>
            </a:r>
          </a:p>
        </p:txBody>
      </p:sp>
      <p:sp>
        <p:nvSpPr>
          <p:cNvPr id="3" name="Date Placeholder 2">
            <a:extLst>
              <a:ext uri="{FF2B5EF4-FFF2-40B4-BE49-F238E27FC236}">
                <a16:creationId xmlns:a16="http://schemas.microsoft.com/office/drawing/2014/main" id="{439F4386-EC4B-D484-83E1-30AF5474C7D0}"/>
              </a:ext>
            </a:extLst>
          </p:cNvPr>
          <p:cNvSpPr>
            <a:spLocks noGrp="1"/>
          </p:cNvSpPr>
          <p:nvPr>
            <p:ph type="dt" sz="half" idx="10"/>
          </p:nvPr>
        </p:nvSpPr>
        <p:spPr/>
        <p:txBody>
          <a:bodyPr/>
          <a:lstStyle/>
          <a:p>
            <a:fld id="{6C162C20-4047-4FD5-A177-680B3DB912C2}" type="datetime2">
              <a:rPr lang="en-US" smtClean="0"/>
              <a:t>Wednesday, May 20, 2026</a:t>
            </a:fld>
            <a:endParaRPr lang="en-US" dirty="0"/>
          </a:p>
        </p:txBody>
      </p:sp>
      <p:sp>
        <p:nvSpPr>
          <p:cNvPr id="5" name="Footer Placeholder 4">
            <a:extLst>
              <a:ext uri="{FF2B5EF4-FFF2-40B4-BE49-F238E27FC236}">
                <a16:creationId xmlns:a16="http://schemas.microsoft.com/office/drawing/2014/main" id="{25D0867E-49DD-98FA-53D9-B01556DEF5BA}"/>
              </a:ext>
            </a:extLst>
          </p:cNvPr>
          <p:cNvSpPr>
            <a:spLocks noGrp="1"/>
          </p:cNvSpPr>
          <p:nvPr>
            <p:ph type="ftr" sz="quarter" idx="11"/>
          </p:nvPr>
        </p:nvSpPr>
        <p:spPr/>
        <p:txBody>
          <a:bodyPr/>
          <a:lstStyle/>
          <a:p>
            <a:r>
              <a:rPr lang="en-US"/>
              <a:t>Final Year Design Project</a:t>
            </a:r>
            <a:endParaRPr lang="en-US" dirty="0"/>
          </a:p>
        </p:txBody>
      </p:sp>
      <p:pic>
        <p:nvPicPr>
          <p:cNvPr id="7" name="Picture 6">
            <a:extLst>
              <a:ext uri="{FF2B5EF4-FFF2-40B4-BE49-F238E27FC236}">
                <a16:creationId xmlns:a16="http://schemas.microsoft.com/office/drawing/2014/main" id="{3759B997-1BC3-3F37-C98E-3D0BD32F6F43}"/>
              </a:ext>
            </a:extLst>
          </p:cNvPr>
          <p:cNvPicPr>
            <a:picLocks noChangeAspect="1"/>
          </p:cNvPicPr>
          <p:nvPr/>
        </p:nvPicPr>
        <p:blipFill>
          <a:blip r:embed="rId5"/>
          <a:stretch>
            <a:fillRect/>
          </a:stretch>
        </p:blipFill>
        <p:spPr>
          <a:xfrm>
            <a:off x="2209800" y="1310731"/>
            <a:ext cx="4572000" cy="4926288"/>
          </a:xfrm>
          <a:prstGeom prst="rect">
            <a:avLst/>
          </a:prstGeom>
        </p:spPr>
      </p:pic>
      <p:pic>
        <p:nvPicPr>
          <p:cNvPr id="10" name="Picture 9">
            <a:extLst>
              <a:ext uri="{FF2B5EF4-FFF2-40B4-BE49-F238E27FC236}">
                <a16:creationId xmlns:a16="http://schemas.microsoft.com/office/drawing/2014/main" id="{84B79513-AD4C-DB1A-5899-FBD80ACDF288}"/>
              </a:ext>
            </a:extLst>
          </p:cNvPr>
          <p:cNvPicPr>
            <a:picLocks noChangeAspect="1"/>
          </p:cNvPicPr>
          <p:nvPr/>
        </p:nvPicPr>
        <p:blipFill>
          <a:blip r:embed="rId6"/>
          <a:stretch>
            <a:fillRect/>
          </a:stretch>
        </p:blipFill>
        <p:spPr>
          <a:xfrm>
            <a:off x="6900083" y="1690760"/>
            <a:ext cx="4572000" cy="3305907"/>
          </a:xfrm>
          <a:prstGeom prst="rect">
            <a:avLst/>
          </a:prstGeom>
        </p:spPr>
      </p:pic>
    </p:spTree>
    <p:extLst>
      <p:ext uri="{BB962C8B-B14F-4D97-AF65-F5344CB8AC3E}">
        <p14:creationId xmlns:p14="http://schemas.microsoft.com/office/powerpoint/2010/main" val="1701719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71780-512C-5460-CE76-8DA6677297D4}"/>
            </a:ext>
          </a:extLst>
        </p:cNvPr>
        <p:cNvGrpSpPr/>
        <p:nvPr/>
      </p:nvGrpSpPr>
      <p:grpSpPr>
        <a:xfrm>
          <a:off x="0" y="0"/>
          <a:ext cx="0" cy="0"/>
          <a:chOff x="0" y="0"/>
          <a:chExt cx="0" cy="0"/>
        </a:xfrm>
      </p:grpSpPr>
      <p:pic>
        <p:nvPicPr>
          <p:cNvPr id="2" name="Picture 6" descr="University of Chakwal">
            <a:extLst>
              <a:ext uri="{FF2B5EF4-FFF2-40B4-BE49-F238E27FC236}">
                <a16:creationId xmlns:a16="http://schemas.microsoft.com/office/drawing/2014/main" id="{0DDD0E57-921D-68FA-F46B-3A5C5BB0FCA0}"/>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86590" y="391298"/>
            <a:ext cx="6022703" cy="5104731"/>
          </a:xfrm>
          <a:prstGeom prst="rect">
            <a:avLst/>
          </a:prstGeom>
          <a:noFill/>
          <a:ln>
            <a:noFill/>
          </a:ln>
          <a:effectLst/>
          <a:scene3d>
            <a:camera prst="orthographicFront">
              <a:rot lat="0" lon="0" rev="0"/>
            </a:camera>
            <a:lightRig rig="chilly" dir="t">
              <a:rot lat="0" lon="0" rev="18480000"/>
            </a:lightRig>
          </a:scene3d>
          <a:sp3d prstMaterial="clear">
            <a:bevelT h="63500"/>
          </a:sp3d>
          <a:extLst>
            <a:ext uri="{909E8E84-426E-40DD-AFC4-6F175D3DCCD1}">
              <a14:hiddenFill xmlns:a14="http://schemas.microsoft.com/office/drawing/2010/main">
                <a:solidFill>
                  <a:srgbClr val="FFFFFF"/>
                </a:solidFill>
              </a14:hiddenFill>
            </a:ext>
          </a:extLst>
        </p:spPr>
      </p:pic>
      <p:sp>
        <p:nvSpPr>
          <p:cNvPr id="8" name="Title 7">
            <a:extLst>
              <a:ext uri="{FF2B5EF4-FFF2-40B4-BE49-F238E27FC236}">
                <a16:creationId xmlns:a16="http://schemas.microsoft.com/office/drawing/2014/main" id="{F5294E63-CA1B-21C7-06AA-CE66C01B1434}"/>
              </a:ext>
            </a:extLst>
          </p:cNvPr>
          <p:cNvSpPr>
            <a:spLocks noGrp="1"/>
          </p:cNvSpPr>
          <p:nvPr>
            <p:ph type="title"/>
          </p:nvPr>
        </p:nvSpPr>
        <p:spPr>
          <a:xfrm>
            <a:off x="838200" y="-512822"/>
            <a:ext cx="9149093" cy="1600200"/>
          </a:xfrm>
        </p:spPr>
        <p:txBody>
          <a:bodyPr>
            <a:normAutofit/>
          </a:bodyPr>
          <a:lstStyle/>
          <a:p>
            <a:r>
              <a:rPr lang="en-US" sz="4000" b="1" dirty="0">
                <a:solidFill>
                  <a:srgbClr val="FF0000"/>
                </a:solidFill>
                <a:latin typeface="Times New Roman" panose="02020603050405020304" pitchFamily="18" charset="0"/>
                <a:cs typeface="Times New Roman" panose="02020603050405020304" pitchFamily="18" charset="0"/>
              </a:rPr>
              <a:t>Working Principle</a:t>
            </a:r>
          </a:p>
        </p:txBody>
      </p:sp>
      <p:sp>
        <p:nvSpPr>
          <p:cNvPr id="3" name="Date Placeholder 2">
            <a:extLst>
              <a:ext uri="{FF2B5EF4-FFF2-40B4-BE49-F238E27FC236}">
                <a16:creationId xmlns:a16="http://schemas.microsoft.com/office/drawing/2014/main" id="{2A8470F8-FFF9-F31E-771B-EE02622DAC07}"/>
              </a:ext>
            </a:extLst>
          </p:cNvPr>
          <p:cNvSpPr>
            <a:spLocks noGrp="1"/>
          </p:cNvSpPr>
          <p:nvPr>
            <p:ph type="dt" sz="half" idx="10"/>
          </p:nvPr>
        </p:nvSpPr>
        <p:spPr/>
        <p:txBody>
          <a:bodyPr/>
          <a:lstStyle/>
          <a:p>
            <a:fld id="{6C162C20-4047-4FD5-A177-680B3DB912C2}" type="datetime2">
              <a:rPr lang="en-US" smtClean="0"/>
              <a:t>Wednesday, May 20, 2026</a:t>
            </a:fld>
            <a:endParaRPr lang="en-US" dirty="0"/>
          </a:p>
        </p:txBody>
      </p:sp>
      <p:sp>
        <p:nvSpPr>
          <p:cNvPr id="5" name="Footer Placeholder 4">
            <a:extLst>
              <a:ext uri="{FF2B5EF4-FFF2-40B4-BE49-F238E27FC236}">
                <a16:creationId xmlns:a16="http://schemas.microsoft.com/office/drawing/2014/main" id="{58E4C4E3-62BB-6433-EEE6-57DC18728633}"/>
              </a:ext>
            </a:extLst>
          </p:cNvPr>
          <p:cNvSpPr>
            <a:spLocks noGrp="1"/>
          </p:cNvSpPr>
          <p:nvPr>
            <p:ph type="ftr" sz="quarter" idx="11"/>
          </p:nvPr>
        </p:nvSpPr>
        <p:spPr/>
        <p:txBody>
          <a:bodyPr/>
          <a:lstStyle/>
          <a:p>
            <a:r>
              <a:rPr lang="en-US"/>
              <a:t>Final Year Design Project</a:t>
            </a:r>
            <a:endParaRPr lang="en-US" dirty="0"/>
          </a:p>
        </p:txBody>
      </p:sp>
      <p:sp>
        <p:nvSpPr>
          <p:cNvPr id="7" name="TextBox 6">
            <a:extLst>
              <a:ext uri="{FF2B5EF4-FFF2-40B4-BE49-F238E27FC236}">
                <a16:creationId xmlns:a16="http://schemas.microsoft.com/office/drawing/2014/main" id="{FAD8600B-C137-4AB3-216C-4099446A1D6E}"/>
              </a:ext>
            </a:extLst>
          </p:cNvPr>
          <p:cNvSpPr txBox="1"/>
          <p:nvPr/>
        </p:nvSpPr>
        <p:spPr>
          <a:xfrm>
            <a:off x="1123290" y="1552766"/>
            <a:ext cx="8203589" cy="3477875"/>
          </a:xfrm>
          <a:prstGeom prst="rect">
            <a:avLst/>
          </a:prstGeom>
          <a:noFill/>
        </p:spPr>
        <p:txBody>
          <a:bodyPr wrap="square">
            <a:spAutoFit/>
          </a:bodyPr>
          <a:lstStyle/>
          <a:p>
            <a:endParaRPr lang="en-US" sz="2000" dirty="0"/>
          </a:p>
          <a:p>
            <a:pPr marL="285750" indent="-285750">
              <a:buFont typeface="Arial" panose="020B0604020202020204" pitchFamily="34" charset="0"/>
              <a:buChar char="•"/>
            </a:pPr>
            <a:r>
              <a:rPr lang="en-US" sz="2000" dirty="0"/>
              <a:t>Object is placed on the conveyor belt</a:t>
            </a:r>
          </a:p>
          <a:p>
            <a:pPr marL="285750" indent="-285750">
              <a:buFont typeface="Arial" panose="020B0604020202020204" pitchFamily="34" charset="0"/>
              <a:buChar char="•"/>
            </a:pPr>
            <a:r>
              <a:rPr lang="en-US" sz="2000" dirty="0"/>
              <a:t>Conveyor moves the object automatically</a:t>
            </a:r>
          </a:p>
          <a:p>
            <a:pPr marL="285750" indent="-285750">
              <a:buFont typeface="Arial" panose="020B0604020202020204" pitchFamily="34" charset="0"/>
              <a:buChar char="•"/>
            </a:pPr>
            <a:r>
              <a:rPr lang="en-US" sz="2000" dirty="0"/>
              <a:t>Mobile camera captures object image</a:t>
            </a:r>
          </a:p>
          <a:p>
            <a:pPr marL="285750" indent="-285750">
              <a:buFont typeface="Arial" panose="020B0604020202020204" pitchFamily="34" charset="0"/>
              <a:buChar char="•"/>
            </a:pPr>
            <a:r>
              <a:rPr lang="en-US" sz="2000" dirty="0"/>
              <a:t>Image processing detects object color</a:t>
            </a:r>
          </a:p>
          <a:p>
            <a:pPr marL="285750" indent="-285750">
              <a:buFont typeface="Arial" panose="020B0604020202020204" pitchFamily="34" charset="0"/>
              <a:buChar char="•"/>
            </a:pPr>
            <a:r>
              <a:rPr lang="en-US" sz="2000" dirty="0"/>
              <a:t>Detection data is sent to PLC</a:t>
            </a:r>
          </a:p>
          <a:p>
            <a:pPr marL="285750" indent="-285750">
              <a:buFont typeface="Arial" panose="020B0604020202020204" pitchFamily="34" charset="0"/>
              <a:buChar char="•"/>
            </a:pPr>
            <a:r>
              <a:rPr lang="en-US" sz="2000" dirty="0"/>
              <a:t>PLC analyzes and processes the signal</a:t>
            </a:r>
          </a:p>
          <a:p>
            <a:pPr marL="285750" indent="-285750">
              <a:buFont typeface="Arial" panose="020B0604020202020204" pitchFamily="34" charset="0"/>
              <a:buChar char="•"/>
            </a:pPr>
            <a:r>
              <a:rPr lang="en-US" sz="2000" dirty="0"/>
              <a:t>PLC controls robotic arm movement</a:t>
            </a:r>
          </a:p>
          <a:p>
            <a:pPr marL="285750" indent="-285750">
              <a:buFont typeface="Arial" panose="020B0604020202020204" pitchFamily="34" charset="0"/>
              <a:buChar char="•"/>
            </a:pPr>
            <a:r>
              <a:rPr lang="en-US" sz="2000" dirty="0"/>
              <a:t>Robotic arm picks the object</a:t>
            </a:r>
          </a:p>
          <a:p>
            <a:pPr marL="285750" indent="-285750">
              <a:buFont typeface="Arial" panose="020B0604020202020204" pitchFamily="34" charset="0"/>
              <a:buChar char="•"/>
            </a:pPr>
            <a:r>
              <a:rPr lang="en-US" sz="2000" dirty="0"/>
              <a:t>Object is placed in the respective sorting bin</a:t>
            </a:r>
          </a:p>
          <a:p>
            <a:pPr marL="285750" indent="-285750">
              <a:buFont typeface="Arial" panose="020B0604020202020204" pitchFamily="34" charset="0"/>
              <a:buChar char="•"/>
            </a:pPr>
            <a:r>
              <a:rPr lang="en-US" sz="2000" dirty="0"/>
              <a:t>Process repeats continuously for automatic sorting</a:t>
            </a:r>
          </a:p>
        </p:txBody>
      </p:sp>
    </p:spTree>
    <p:extLst>
      <p:ext uri="{BB962C8B-B14F-4D97-AF65-F5344CB8AC3E}">
        <p14:creationId xmlns:p14="http://schemas.microsoft.com/office/powerpoint/2010/main" val="3534815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University of Chakwal"/>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86590" y="319086"/>
            <a:ext cx="6022703" cy="5104731"/>
          </a:xfrm>
          <a:prstGeom prst="rect">
            <a:avLst/>
          </a:prstGeom>
          <a:noFill/>
          <a:ln>
            <a:noFill/>
          </a:ln>
          <a:effectLst/>
          <a:scene3d>
            <a:camera prst="orthographicFront">
              <a:rot lat="0" lon="0" rev="0"/>
            </a:camera>
            <a:lightRig rig="chilly" dir="t">
              <a:rot lat="0" lon="0" rev="18480000"/>
            </a:lightRig>
          </a:scene3d>
          <a:sp3d prstMaterial="clear">
            <a:bevelT h="63500"/>
          </a:sp3d>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a:xfrm>
            <a:off x="838200" y="-729375"/>
            <a:ext cx="6952346" cy="1600200"/>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Hardware Selection &amp; Assembly</a:t>
            </a:r>
          </a:p>
        </p:txBody>
      </p:sp>
      <p:sp>
        <p:nvSpPr>
          <p:cNvPr id="11" name="Footer Placeholder 10"/>
          <p:cNvSpPr>
            <a:spLocks noGrp="1"/>
          </p:cNvSpPr>
          <p:nvPr>
            <p:ph type="ftr" sz="quarter" idx="11"/>
          </p:nvPr>
        </p:nvSpPr>
        <p:spPr/>
        <p:txBody>
          <a:bodyPr/>
          <a:lstStyle/>
          <a:p>
            <a:r>
              <a:rPr lang="en-US"/>
              <a:t>Final Year Design Project</a:t>
            </a:r>
            <a:endParaRPr lang="en-US" dirty="0"/>
          </a:p>
        </p:txBody>
      </p:sp>
      <p:sp>
        <p:nvSpPr>
          <p:cNvPr id="3" name="Date Placeholder 2">
            <a:extLst>
              <a:ext uri="{FF2B5EF4-FFF2-40B4-BE49-F238E27FC236}">
                <a16:creationId xmlns:a16="http://schemas.microsoft.com/office/drawing/2014/main" id="{E871E072-5E99-4255-BC7C-32762D22B620}"/>
              </a:ext>
            </a:extLst>
          </p:cNvPr>
          <p:cNvSpPr>
            <a:spLocks noGrp="1"/>
          </p:cNvSpPr>
          <p:nvPr>
            <p:ph type="dt" sz="half" idx="10"/>
          </p:nvPr>
        </p:nvSpPr>
        <p:spPr/>
        <p:txBody>
          <a:bodyPr/>
          <a:lstStyle/>
          <a:p>
            <a:fld id="{D5FA13C0-6162-4970-9E04-BFF3F976AEB0}" type="datetime2">
              <a:rPr lang="en-US" smtClean="0"/>
              <a:t>Wednesday, May 20, 2026</a:t>
            </a:fld>
            <a:endParaRPr lang="en-US" dirty="0"/>
          </a:p>
        </p:txBody>
      </p:sp>
      <p:grpSp>
        <p:nvGrpSpPr>
          <p:cNvPr id="6" name="Group 5">
            <a:extLst>
              <a:ext uri="{FF2B5EF4-FFF2-40B4-BE49-F238E27FC236}">
                <a16:creationId xmlns:a16="http://schemas.microsoft.com/office/drawing/2014/main" id="{C09CD8C5-ECF5-06AE-2FEB-8748EBF5E229}"/>
              </a:ext>
            </a:extLst>
          </p:cNvPr>
          <p:cNvGrpSpPr/>
          <p:nvPr/>
        </p:nvGrpSpPr>
        <p:grpSpPr>
          <a:xfrm>
            <a:off x="7467454" y="2407301"/>
            <a:ext cx="3497816" cy="2412575"/>
            <a:chOff x="-35486" y="33147"/>
            <a:chExt cx="4194863" cy="2412736"/>
          </a:xfrm>
        </p:grpSpPr>
        <p:sp>
          <p:nvSpPr>
            <p:cNvPr id="16" name="Rectangle 15">
              <a:extLst>
                <a:ext uri="{FF2B5EF4-FFF2-40B4-BE49-F238E27FC236}">
                  <a16:creationId xmlns:a16="http://schemas.microsoft.com/office/drawing/2014/main" id="{930A47F3-C102-0C25-BC37-A442A58BD144}"/>
                </a:ext>
              </a:extLst>
            </p:cNvPr>
            <p:cNvSpPr/>
            <p:nvPr/>
          </p:nvSpPr>
          <p:spPr>
            <a:xfrm>
              <a:off x="2419477" y="1675358"/>
              <a:ext cx="50673" cy="224380"/>
            </a:xfrm>
            <a:prstGeom prst="rect">
              <a:avLst/>
            </a:prstGeom>
            <a:ln>
              <a:noFill/>
            </a:ln>
          </p:spPr>
          <p:txBody>
            <a:bodyPr vert="horz" lIns="0" tIns="0" rIns="0" bIns="0" rtlCol="0">
              <a:noAutofit/>
            </a:bodyPr>
            <a:lstStyle/>
            <a:p>
              <a:pPr marL="0" marR="0" indent="0" algn="l">
                <a:lnSpc>
                  <a:spcPct val="107000"/>
                </a:lnSpc>
                <a:spcAft>
                  <a:spcPts val="800"/>
                </a:spcAft>
                <a:buNone/>
              </a:pPr>
              <a:r>
                <a:rPr sz="1200">
                  <a:solidFill>
                    <a:srgbClr val="FFFFFF"/>
                  </a:solidFill>
                  <a:effectLst/>
                  <a:latin typeface="Times New Roman" panose="02020603050405020304" pitchFamily="18" charset="0"/>
                  <a:ea typeface="Times New Roman" panose="02020603050405020304" pitchFamily="18" charset="0"/>
                </a:rPr>
                <a:t> </a:t>
              </a:r>
              <a:endParaRPr sz="1200">
                <a:solidFill>
                  <a:srgbClr val="000000"/>
                </a:solidFill>
                <a:effectLst/>
                <a:latin typeface="Times New Roman" panose="02020603050405020304" pitchFamily="18" charset="0"/>
                <a:ea typeface="Times New Roman" panose="02020603050405020304" pitchFamily="18" charset="0"/>
              </a:endParaRPr>
            </a:p>
          </p:txBody>
        </p:sp>
        <p:pic>
          <p:nvPicPr>
            <p:cNvPr id="17" name="Picture 16">
              <a:extLst>
                <a:ext uri="{FF2B5EF4-FFF2-40B4-BE49-F238E27FC236}">
                  <a16:creationId xmlns:a16="http://schemas.microsoft.com/office/drawing/2014/main" id="{D2D76948-1BCE-FEE3-E515-10BC7384C1A6}"/>
                </a:ext>
              </a:extLst>
            </p:cNvPr>
            <p:cNvPicPr/>
            <p:nvPr/>
          </p:nvPicPr>
          <p:blipFill>
            <a:blip r:embed="rId5"/>
            <a:stretch>
              <a:fillRect/>
            </a:stretch>
          </p:blipFill>
          <p:spPr>
            <a:xfrm>
              <a:off x="-35486" y="632323"/>
              <a:ext cx="2371344" cy="1813560"/>
            </a:xfrm>
            <a:prstGeom prst="rect">
              <a:avLst/>
            </a:prstGeom>
          </p:spPr>
        </p:pic>
        <p:pic>
          <p:nvPicPr>
            <p:cNvPr id="18" name="Picture 17">
              <a:extLst>
                <a:ext uri="{FF2B5EF4-FFF2-40B4-BE49-F238E27FC236}">
                  <a16:creationId xmlns:a16="http://schemas.microsoft.com/office/drawing/2014/main" id="{789937E5-8260-B4B8-0600-00773A5BF7DA}"/>
                </a:ext>
              </a:extLst>
            </p:cNvPr>
            <p:cNvPicPr/>
            <p:nvPr/>
          </p:nvPicPr>
          <p:blipFill>
            <a:blip r:embed="rId6"/>
            <a:stretch>
              <a:fillRect/>
            </a:stretch>
          </p:blipFill>
          <p:spPr>
            <a:xfrm>
              <a:off x="2330577" y="33147"/>
              <a:ext cx="1828800" cy="1828800"/>
            </a:xfrm>
            <a:prstGeom prst="rect">
              <a:avLst/>
            </a:prstGeom>
          </p:spPr>
        </p:pic>
      </p:grpSp>
      <p:sp>
        <p:nvSpPr>
          <p:cNvPr id="14" name="TextBox 13">
            <a:extLst>
              <a:ext uri="{FF2B5EF4-FFF2-40B4-BE49-F238E27FC236}">
                <a16:creationId xmlns:a16="http://schemas.microsoft.com/office/drawing/2014/main" id="{EDCD96C9-D124-27BD-2A3B-F866DDF30FFF}"/>
              </a:ext>
            </a:extLst>
          </p:cNvPr>
          <p:cNvSpPr txBox="1"/>
          <p:nvPr/>
        </p:nvSpPr>
        <p:spPr>
          <a:xfrm>
            <a:off x="949898" y="1192796"/>
            <a:ext cx="7923627" cy="3170099"/>
          </a:xfrm>
          <a:prstGeom prst="rect">
            <a:avLst/>
          </a:prstGeom>
          <a:noFill/>
        </p:spPr>
        <p:txBody>
          <a:bodyPr wrap="square">
            <a:spAutoFit/>
          </a:bodyPr>
          <a:lstStyle/>
          <a:p>
            <a:r>
              <a:rPr lang="en-US" sz="2000" dirty="0"/>
              <a:t>PLC → Main control unit</a:t>
            </a:r>
          </a:p>
          <a:p>
            <a:r>
              <a:rPr lang="en-US" sz="2000" dirty="0"/>
              <a:t>Mobile Camera → Object color detection</a:t>
            </a:r>
          </a:p>
          <a:p>
            <a:r>
              <a:rPr lang="en-US" sz="2000" dirty="0"/>
              <a:t>Conveyor Belt → Object movement</a:t>
            </a:r>
          </a:p>
          <a:p>
            <a:r>
              <a:rPr lang="en-US" sz="2000" dirty="0"/>
              <a:t>DC Motor → Drives conveyor</a:t>
            </a:r>
          </a:p>
          <a:p>
            <a:r>
              <a:rPr lang="en-US" sz="2000" dirty="0"/>
              <a:t>Robotic Arm → Pick-and-place operation</a:t>
            </a:r>
          </a:p>
          <a:p>
            <a:r>
              <a:rPr lang="en-US" sz="2000" dirty="0"/>
              <a:t>Servo Motors → Arm movement control</a:t>
            </a:r>
          </a:p>
          <a:p>
            <a:r>
              <a:rPr lang="en-US" sz="2000" dirty="0"/>
              <a:t>Motor Driver → Motor interfacing</a:t>
            </a:r>
          </a:p>
          <a:p>
            <a:r>
              <a:rPr lang="en-US" sz="2000" dirty="0"/>
              <a:t>Power Supply → Provides electrical power</a:t>
            </a:r>
          </a:p>
          <a:p>
            <a:r>
              <a:rPr lang="en-US" sz="2000" dirty="0"/>
              <a:t>Relay Module → Switching control</a:t>
            </a:r>
          </a:p>
          <a:p>
            <a:r>
              <a:rPr lang="en-US" sz="2000" dirty="0"/>
              <a:t>Sorting Bins → Store sorted objects</a:t>
            </a:r>
          </a:p>
        </p:txBody>
      </p:sp>
      <p:pic>
        <p:nvPicPr>
          <p:cNvPr id="20" name="Picture 19">
            <a:extLst>
              <a:ext uri="{FF2B5EF4-FFF2-40B4-BE49-F238E27FC236}">
                <a16:creationId xmlns:a16="http://schemas.microsoft.com/office/drawing/2014/main" id="{E72F42D5-C0D2-C3D8-BB48-55CCE2F32E25}"/>
              </a:ext>
            </a:extLst>
          </p:cNvPr>
          <p:cNvPicPr>
            <a:picLocks noChangeAspect="1"/>
          </p:cNvPicPr>
          <p:nvPr/>
        </p:nvPicPr>
        <p:blipFill>
          <a:blip r:embed="rId7"/>
          <a:stretch>
            <a:fillRect/>
          </a:stretch>
        </p:blipFill>
        <p:spPr>
          <a:xfrm>
            <a:off x="7267468" y="821582"/>
            <a:ext cx="1836537" cy="1670774"/>
          </a:xfrm>
          <a:prstGeom prst="rect">
            <a:avLst/>
          </a:prstGeom>
        </p:spPr>
      </p:pic>
      <p:pic>
        <p:nvPicPr>
          <p:cNvPr id="22" name="Picture 21">
            <a:extLst>
              <a:ext uri="{FF2B5EF4-FFF2-40B4-BE49-F238E27FC236}">
                <a16:creationId xmlns:a16="http://schemas.microsoft.com/office/drawing/2014/main" id="{3E721F4C-0A60-84D7-980D-FBD07A215EFC}"/>
              </a:ext>
            </a:extLst>
          </p:cNvPr>
          <p:cNvPicPr>
            <a:picLocks noChangeAspect="1"/>
          </p:cNvPicPr>
          <p:nvPr/>
        </p:nvPicPr>
        <p:blipFill>
          <a:blip r:embed="rId8"/>
          <a:stretch>
            <a:fillRect/>
          </a:stretch>
        </p:blipFill>
        <p:spPr>
          <a:xfrm>
            <a:off x="9104005" y="694013"/>
            <a:ext cx="2028339" cy="1443376"/>
          </a:xfrm>
          <a:prstGeom prst="rect">
            <a:avLst/>
          </a:prstGeom>
        </p:spPr>
      </p:pic>
      <p:pic>
        <p:nvPicPr>
          <p:cNvPr id="24" name="Picture 23">
            <a:extLst>
              <a:ext uri="{FF2B5EF4-FFF2-40B4-BE49-F238E27FC236}">
                <a16:creationId xmlns:a16="http://schemas.microsoft.com/office/drawing/2014/main" id="{481A04A0-2296-F357-4448-333D99E8C806}"/>
              </a:ext>
            </a:extLst>
          </p:cNvPr>
          <p:cNvPicPr>
            <a:picLocks noChangeAspect="1"/>
          </p:cNvPicPr>
          <p:nvPr/>
        </p:nvPicPr>
        <p:blipFill>
          <a:blip r:embed="rId9"/>
          <a:stretch>
            <a:fillRect/>
          </a:stretch>
        </p:blipFill>
        <p:spPr>
          <a:xfrm>
            <a:off x="9781110" y="4273767"/>
            <a:ext cx="2216936" cy="1844961"/>
          </a:xfrm>
          <a:prstGeom prst="rect">
            <a:avLst/>
          </a:prstGeom>
        </p:spPr>
      </p:pic>
    </p:spTree>
    <p:extLst>
      <p:ext uri="{BB962C8B-B14F-4D97-AF65-F5344CB8AC3E}">
        <p14:creationId xmlns:p14="http://schemas.microsoft.com/office/powerpoint/2010/main" val="1012776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University of Chakwal"/>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86590" y="319086"/>
            <a:ext cx="6022703" cy="5104731"/>
          </a:xfrm>
          <a:prstGeom prst="rect">
            <a:avLst/>
          </a:prstGeom>
          <a:noFill/>
          <a:ln>
            <a:noFill/>
          </a:ln>
          <a:effectLst/>
          <a:scene3d>
            <a:camera prst="orthographicFront">
              <a:rot lat="0" lon="0" rev="0"/>
            </a:camera>
            <a:lightRig rig="chilly" dir="t">
              <a:rot lat="0" lon="0" rev="18480000"/>
            </a:lightRig>
          </a:scene3d>
          <a:sp3d prstMaterial="clear">
            <a:bevelT h="63500"/>
          </a:sp3d>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a:xfrm>
            <a:off x="838200" y="-481014"/>
            <a:ext cx="6952346" cy="1600200"/>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Implementation And Testing</a:t>
            </a:r>
          </a:p>
        </p:txBody>
      </p:sp>
      <p:sp>
        <p:nvSpPr>
          <p:cNvPr id="14" name="Text Placeholder 13"/>
          <p:cNvSpPr>
            <a:spLocks noGrp="1"/>
          </p:cNvSpPr>
          <p:nvPr>
            <p:ph type="body" sz="half" idx="2"/>
          </p:nvPr>
        </p:nvSpPr>
        <p:spPr>
          <a:xfrm>
            <a:off x="1030798" y="1800665"/>
            <a:ext cx="8474612" cy="2841674"/>
          </a:xfrm>
        </p:spPr>
        <p:txBody>
          <a:bodyPr>
            <a:noAutofit/>
          </a:bodyPr>
          <a:lstStyle/>
          <a:p>
            <a:pPr algn="just"/>
            <a:r>
              <a:rPr lang="en-US" sz="2000" dirty="0">
                <a:latin typeface="Times New Roman" panose="02020603050405020304" pitchFamily="18" charset="0"/>
                <a:cs typeface="Times New Roman" panose="02020603050405020304" pitchFamily="18" charset="0"/>
              </a:rPr>
              <a:t>Hardware setup and wiring were completed successfully</a:t>
            </a:r>
          </a:p>
          <a:p>
            <a:pPr algn="just"/>
            <a:r>
              <a:rPr lang="en-US" sz="2000" dirty="0">
                <a:latin typeface="Times New Roman" panose="02020603050405020304" pitchFamily="18" charset="0"/>
                <a:cs typeface="Times New Roman" panose="02020603050405020304" pitchFamily="18" charset="0"/>
              </a:rPr>
              <a:t>PLC was programmed using ladder logic for automation control</a:t>
            </a:r>
          </a:p>
          <a:p>
            <a:pPr algn="just"/>
            <a:r>
              <a:rPr lang="en-US" sz="2000" dirty="0">
                <a:latin typeface="Times New Roman" panose="02020603050405020304" pitchFamily="18" charset="0"/>
                <a:cs typeface="Times New Roman" panose="02020603050405020304" pitchFamily="18" charset="0"/>
              </a:rPr>
              <a:t>Conveyor belt movement was tested for smooth operation</a:t>
            </a:r>
          </a:p>
          <a:p>
            <a:pPr algn="just"/>
            <a:r>
              <a:rPr lang="en-US" sz="2000" dirty="0">
                <a:latin typeface="Times New Roman" panose="02020603050405020304" pitchFamily="18" charset="0"/>
                <a:cs typeface="Times New Roman" panose="02020603050405020304" pitchFamily="18" charset="0"/>
              </a:rPr>
              <a:t>Mobile Camera accurately detected different object colors</a:t>
            </a:r>
          </a:p>
          <a:p>
            <a:pPr algn="just"/>
            <a:r>
              <a:rPr lang="en-US" sz="2000" dirty="0">
                <a:latin typeface="Times New Roman" panose="02020603050405020304" pitchFamily="18" charset="0"/>
                <a:cs typeface="Times New Roman" panose="02020603050405020304" pitchFamily="18" charset="0"/>
              </a:rPr>
              <a:t>Robotic arm successfully performed pick-and-place operations</a:t>
            </a:r>
          </a:p>
          <a:p>
            <a:pPr algn="just"/>
            <a:r>
              <a:rPr lang="en-US" sz="2000" dirty="0">
                <a:latin typeface="Times New Roman" panose="02020603050405020304" pitchFamily="18" charset="0"/>
                <a:cs typeface="Times New Roman" panose="02020603050405020304" pitchFamily="18" charset="0"/>
              </a:rPr>
              <a:t>Communication between PLC, sensors, and motors was verified</a:t>
            </a:r>
          </a:p>
          <a:p>
            <a:pPr algn="just"/>
            <a:r>
              <a:rPr lang="en-US" sz="2000" dirty="0">
                <a:latin typeface="Times New Roman" panose="02020603050405020304" pitchFamily="18" charset="0"/>
                <a:cs typeface="Times New Roman" panose="02020603050405020304" pitchFamily="18" charset="0"/>
              </a:rPr>
              <a:t>System was tested under real-time sorting conditions</a:t>
            </a:r>
          </a:p>
        </p:txBody>
      </p:sp>
      <p:sp>
        <p:nvSpPr>
          <p:cNvPr id="11" name="Footer Placeholder 10"/>
          <p:cNvSpPr>
            <a:spLocks noGrp="1"/>
          </p:cNvSpPr>
          <p:nvPr>
            <p:ph type="ftr" sz="quarter" idx="11"/>
          </p:nvPr>
        </p:nvSpPr>
        <p:spPr/>
        <p:txBody>
          <a:bodyPr/>
          <a:lstStyle/>
          <a:p>
            <a:r>
              <a:rPr lang="en-US"/>
              <a:t>Final Year Design Project</a:t>
            </a:r>
            <a:endParaRPr lang="en-US" dirty="0"/>
          </a:p>
        </p:txBody>
      </p:sp>
      <p:sp>
        <p:nvSpPr>
          <p:cNvPr id="3" name="Date Placeholder 2">
            <a:extLst>
              <a:ext uri="{FF2B5EF4-FFF2-40B4-BE49-F238E27FC236}">
                <a16:creationId xmlns:a16="http://schemas.microsoft.com/office/drawing/2014/main" id="{E871E072-5E99-4255-BC7C-32762D22B620}"/>
              </a:ext>
            </a:extLst>
          </p:cNvPr>
          <p:cNvSpPr>
            <a:spLocks noGrp="1"/>
          </p:cNvSpPr>
          <p:nvPr>
            <p:ph type="dt" sz="half" idx="10"/>
          </p:nvPr>
        </p:nvSpPr>
        <p:spPr/>
        <p:txBody>
          <a:bodyPr/>
          <a:lstStyle/>
          <a:p>
            <a:fld id="{D5FA13C0-6162-4970-9E04-BFF3F976AEB0}" type="datetime2">
              <a:rPr lang="en-US" smtClean="0"/>
              <a:t>Wednesday, May 20, 2026</a:t>
            </a:fld>
            <a:endParaRPr lang="en-US" dirty="0"/>
          </a:p>
        </p:txBody>
      </p:sp>
    </p:spTree>
    <p:extLst>
      <p:ext uri="{BB962C8B-B14F-4D97-AF65-F5344CB8AC3E}">
        <p14:creationId xmlns:p14="http://schemas.microsoft.com/office/powerpoint/2010/main" val="1945927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A95FA3F-3159-4A1E-B6FF-77E7450C6C27}"/>
              </a:ext>
            </a:extLst>
          </p:cNvPr>
          <p:cNvSpPr>
            <a:spLocks noGrp="1"/>
          </p:cNvSpPr>
          <p:nvPr>
            <p:ph type="title"/>
          </p:nvPr>
        </p:nvSpPr>
        <p:spPr>
          <a:xfrm>
            <a:off x="1054615" y="627945"/>
            <a:ext cx="3994173" cy="721294"/>
          </a:xfrm>
        </p:spPr>
        <p:txBody>
          <a:bodyPr/>
          <a:lstStyle/>
          <a:p>
            <a:r>
              <a:rPr lang="en-US" sz="3600" b="1" dirty="0">
                <a:solidFill>
                  <a:srgbClr val="FF0000"/>
                </a:solidFill>
                <a:latin typeface="Times New Roman" panose="02020603050405020304" pitchFamily="18" charset="0"/>
                <a:cs typeface="Times New Roman" panose="02020603050405020304" pitchFamily="18" charset="0"/>
              </a:rPr>
              <a:t>Block Diagram</a:t>
            </a:r>
          </a:p>
        </p:txBody>
      </p:sp>
      <p:sp>
        <p:nvSpPr>
          <p:cNvPr id="12" name="Slide Number Placeholder 11">
            <a:extLst>
              <a:ext uri="{FF2B5EF4-FFF2-40B4-BE49-F238E27FC236}">
                <a16:creationId xmlns:a16="http://schemas.microsoft.com/office/drawing/2014/main" id="{C2583714-ADF1-4DBB-9A35-C7A9B4F8394D}"/>
              </a:ext>
            </a:extLst>
          </p:cNvPr>
          <p:cNvSpPr>
            <a:spLocks noGrp="1"/>
          </p:cNvSpPr>
          <p:nvPr>
            <p:ph type="sldNum" sz="quarter" idx="40"/>
          </p:nvPr>
        </p:nvSpPr>
        <p:spPr/>
        <p:txBody>
          <a:bodyPr/>
          <a:lstStyle/>
          <a:p>
            <a:fld id="{47FEACEE-25B4-4A2D-B147-27296E36371D}" type="slidenum">
              <a:rPr lang="en-US" altLang="zh-CN" smtClean="0"/>
              <a:pPr/>
              <a:t>9</a:t>
            </a:fld>
            <a:endParaRPr lang="en-US" altLang="zh-CN" dirty="0"/>
          </a:p>
        </p:txBody>
      </p:sp>
      <p:pic>
        <p:nvPicPr>
          <p:cNvPr id="9" name="Picture 8">
            <a:extLst>
              <a:ext uri="{FF2B5EF4-FFF2-40B4-BE49-F238E27FC236}">
                <a16:creationId xmlns:a16="http://schemas.microsoft.com/office/drawing/2014/main" id="{E626616E-EAC4-B874-F9C7-393DAA979236}"/>
              </a:ext>
            </a:extLst>
          </p:cNvPr>
          <p:cNvPicPr>
            <a:picLocks noChangeAspect="1"/>
          </p:cNvPicPr>
          <p:nvPr/>
        </p:nvPicPr>
        <p:blipFill>
          <a:blip r:embed="rId2"/>
          <a:stretch>
            <a:fillRect/>
          </a:stretch>
        </p:blipFill>
        <p:spPr>
          <a:xfrm>
            <a:off x="2630659" y="1575582"/>
            <a:ext cx="8623496" cy="4780770"/>
          </a:xfrm>
          <a:prstGeom prst="rect">
            <a:avLst/>
          </a:prstGeom>
        </p:spPr>
      </p:pic>
    </p:spTree>
    <p:extLst>
      <p:ext uri="{BB962C8B-B14F-4D97-AF65-F5344CB8AC3E}">
        <p14:creationId xmlns:p14="http://schemas.microsoft.com/office/powerpoint/2010/main" val="574173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0938" y="-473058"/>
            <a:ext cx="7305211" cy="1600200"/>
          </a:xfrm>
        </p:spPr>
        <p:txBody>
          <a:bodyPr>
            <a:normAutofit/>
          </a:bodyPr>
          <a:lstStyle/>
          <a:p>
            <a:r>
              <a:rPr lang="en-GB" sz="4000" b="1" dirty="0">
                <a:solidFill>
                  <a:srgbClr val="FF0000"/>
                </a:solidFill>
                <a:latin typeface="Times New Roman" panose="02020603050405020304" pitchFamily="18" charset="0"/>
                <a:cs typeface="Times New Roman" panose="02020603050405020304" pitchFamily="18" charset="0"/>
              </a:rPr>
              <a:t>Real time value</a:t>
            </a: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sz="half" idx="2"/>
          </p:nvPr>
        </p:nvSpPr>
        <p:spPr>
          <a:xfrm>
            <a:off x="970938" y="1347845"/>
            <a:ext cx="6667819" cy="4743466"/>
          </a:xfrm>
        </p:spPr>
        <p:txBody>
          <a:bodyPr>
            <a:noAutofit/>
          </a:bodyPr>
          <a:lstStyle/>
          <a:p>
            <a:r>
              <a:rPr lang="en-GB" sz="2400" dirty="0">
                <a:latin typeface="Times New Roman" panose="02020603050405020304" pitchFamily="18" charset="0"/>
                <a:cs typeface="Times New Roman" panose="02020603050405020304" pitchFamily="18" charset="0"/>
              </a:rPr>
              <a:t>The Smart Chromatic Sorting System provides real-time automatic object sorting using mobile camera vision and PLC automation. It improves industrial efficiency, reduces human effort, increases sorting accuracy, and supports smart manufacturing applications.</a:t>
            </a:r>
            <a:endParaRPr lang="en-US" sz="2400"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p:txBody>
          <a:bodyPr/>
          <a:lstStyle/>
          <a:p>
            <a:r>
              <a:rPr lang="en-US"/>
              <a:t>Final Year Design Project</a:t>
            </a:r>
            <a:endParaRPr lang="en-US" dirty="0"/>
          </a:p>
        </p:txBody>
      </p:sp>
      <p:sp>
        <p:nvSpPr>
          <p:cNvPr id="6" name="Date Placeholder 5">
            <a:extLst>
              <a:ext uri="{FF2B5EF4-FFF2-40B4-BE49-F238E27FC236}">
                <a16:creationId xmlns:a16="http://schemas.microsoft.com/office/drawing/2014/main" id="{7E5E1A86-3481-4076-9C77-B1657145828B}"/>
              </a:ext>
            </a:extLst>
          </p:cNvPr>
          <p:cNvSpPr>
            <a:spLocks noGrp="1"/>
          </p:cNvSpPr>
          <p:nvPr>
            <p:ph type="dt" sz="half" idx="10"/>
          </p:nvPr>
        </p:nvSpPr>
        <p:spPr/>
        <p:txBody>
          <a:bodyPr/>
          <a:lstStyle/>
          <a:p>
            <a:fld id="{A56E60E2-D66E-4142-AD28-D11B2DD10EF8}" type="datetime2">
              <a:rPr lang="en-US" smtClean="0"/>
              <a:t>Wednesday, May 20, 2026</a:t>
            </a:fld>
            <a:endParaRPr lang="en-US" dirty="0"/>
          </a:p>
        </p:txBody>
      </p:sp>
    </p:spTree>
    <p:extLst>
      <p:ext uri="{BB962C8B-B14F-4D97-AF65-F5344CB8AC3E}">
        <p14:creationId xmlns:p14="http://schemas.microsoft.com/office/powerpoint/2010/main" val="3599921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BFDA0-3CBC-1747-FC87-F46AA49704B6}"/>
            </a:ext>
          </a:extLst>
        </p:cNvPr>
        <p:cNvGrpSpPr/>
        <p:nvPr/>
      </p:nvGrpSpPr>
      <p:grpSpPr>
        <a:xfrm>
          <a:off x="0" y="0"/>
          <a:ext cx="0" cy="0"/>
          <a:chOff x="0" y="0"/>
          <a:chExt cx="0" cy="0"/>
        </a:xfrm>
      </p:grpSpPr>
      <p:pic>
        <p:nvPicPr>
          <p:cNvPr id="2" name="Picture 6" descr="University of Chakwal">
            <a:extLst>
              <a:ext uri="{FF2B5EF4-FFF2-40B4-BE49-F238E27FC236}">
                <a16:creationId xmlns:a16="http://schemas.microsoft.com/office/drawing/2014/main" id="{677E4584-52A3-E077-D526-605AC2F2E909}"/>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86590" y="319086"/>
            <a:ext cx="6022703" cy="5104731"/>
          </a:xfrm>
          <a:prstGeom prst="rect">
            <a:avLst/>
          </a:prstGeom>
          <a:noFill/>
          <a:ln>
            <a:noFill/>
          </a:ln>
          <a:effectLst/>
          <a:scene3d>
            <a:camera prst="orthographicFront">
              <a:rot lat="0" lon="0" rev="0"/>
            </a:camera>
            <a:lightRig rig="chilly" dir="t">
              <a:rot lat="0" lon="0" rev="18480000"/>
            </a:lightRig>
          </a:scene3d>
          <a:sp3d prstMaterial="clear">
            <a:bevelT h="63500"/>
          </a:sp3d>
          <a:extLst>
            <a:ext uri="{909E8E84-426E-40DD-AFC4-6F175D3DCCD1}">
              <a14:hiddenFill xmlns:a14="http://schemas.microsoft.com/office/drawing/2010/main">
                <a:solidFill>
                  <a:srgbClr val="FFFFFF"/>
                </a:solidFill>
              </a14:hiddenFill>
            </a:ext>
          </a:extLst>
        </p:spPr>
      </p:pic>
      <p:sp>
        <p:nvSpPr>
          <p:cNvPr id="8" name="Title 7">
            <a:extLst>
              <a:ext uri="{FF2B5EF4-FFF2-40B4-BE49-F238E27FC236}">
                <a16:creationId xmlns:a16="http://schemas.microsoft.com/office/drawing/2014/main" id="{7FAF88BD-3BA8-3775-0B63-9E1232D93812}"/>
              </a:ext>
            </a:extLst>
          </p:cNvPr>
          <p:cNvSpPr>
            <a:spLocks noGrp="1"/>
          </p:cNvSpPr>
          <p:nvPr>
            <p:ph type="title"/>
          </p:nvPr>
        </p:nvSpPr>
        <p:spPr>
          <a:xfrm>
            <a:off x="883243" y="-389200"/>
            <a:ext cx="10425514" cy="1600200"/>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Software Architecture</a:t>
            </a:r>
          </a:p>
        </p:txBody>
      </p:sp>
      <p:sp>
        <p:nvSpPr>
          <p:cNvPr id="11" name="Footer Placeholder 10">
            <a:extLst>
              <a:ext uri="{FF2B5EF4-FFF2-40B4-BE49-F238E27FC236}">
                <a16:creationId xmlns:a16="http://schemas.microsoft.com/office/drawing/2014/main" id="{1B84505C-B7B7-9EC8-1488-2A5CF8ED3035}"/>
              </a:ext>
            </a:extLst>
          </p:cNvPr>
          <p:cNvSpPr>
            <a:spLocks noGrp="1"/>
          </p:cNvSpPr>
          <p:nvPr>
            <p:ph type="ftr" sz="quarter" idx="11"/>
          </p:nvPr>
        </p:nvSpPr>
        <p:spPr/>
        <p:txBody>
          <a:bodyPr/>
          <a:lstStyle/>
          <a:p>
            <a:r>
              <a:rPr lang="en-US"/>
              <a:t>Final Year Design Project</a:t>
            </a:r>
            <a:endParaRPr lang="en-US" dirty="0"/>
          </a:p>
        </p:txBody>
      </p:sp>
      <p:sp>
        <p:nvSpPr>
          <p:cNvPr id="3" name="Date Placeholder 2">
            <a:extLst>
              <a:ext uri="{FF2B5EF4-FFF2-40B4-BE49-F238E27FC236}">
                <a16:creationId xmlns:a16="http://schemas.microsoft.com/office/drawing/2014/main" id="{E2666F20-FC12-D72E-0A06-B7D400502145}"/>
              </a:ext>
            </a:extLst>
          </p:cNvPr>
          <p:cNvSpPr>
            <a:spLocks noGrp="1"/>
          </p:cNvSpPr>
          <p:nvPr>
            <p:ph type="dt" sz="half" idx="10"/>
          </p:nvPr>
        </p:nvSpPr>
        <p:spPr/>
        <p:txBody>
          <a:bodyPr/>
          <a:lstStyle/>
          <a:p>
            <a:fld id="{D5FA13C0-6162-4970-9E04-BFF3F976AEB0}" type="datetime2">
              <a:rPr lang="en-US" smtClean="0"/>
              <a:t>Wednesday, May 20, 2026</a:t>
            </a:fld>
            <a:endParaRPr lang="en-US" dirty="0"/>
          </a:p>
        </p:txBody>
      </p:sp>
      <p:sp>
        <p:nvSpPr>
          <p:cNvPr id="5" name="TextBox 4">
            <a:extLst>
              <a:ext uri="{FF2B5EF4-FFF2-40B4-BE49-F238E27FC236}">
                <a16:creationId xmlns:a16="http://schemas.microsoft.com/office/drawing/2014/main" id="{9B72E545-96FF-65A0-B038-CFC8C08306A4}"/>
              </a:ext>
            </a:extLst>
          </p:cNvPr>
          <p:cNvSpPr txBox="1"/>
          <p:nvPr/>
        </p:nvSpPr>
        <p:spPr>
          <a:xfrm>
            <a:off x="883243" y="1497204"/>
            <a:ext cx="6098976" cy="2031325"/>
          </a:xfrm>
          <a:prstGeom prst="rect">
            <a:avLst/>
          </a:prstGeom>
          <a:noFill/>
        </p:spPr>
        <p:txBody>
          <a:bodyPr wrap="square">
            <a:spAutoFit/>
          </a:bodyPr>
          <a:lstStyle/>
          <a:p>
            <a:r>
              <a:rPr lang="en-US" dirty="0"/>
              <a:t>Delta IS</a:t>
            </a:r>
            <a:r>
              <a:rPr lang="en-GB" dirty="0"/>
              <a:t>PSOFT </a:t>
            </a:r>
            <a:r>
              <a:rPr lang="en-US" dirty="0"/>
              <a:t>is used for PLC programming, monitoring, and automation control in the project.</a:t>
            </a:r>
            <a:endParaRPr lang="en-GB" dirty="0"/>
          </a:p>
          <a:p>
            <a:r>
              <a:rPr lang="en-GB" dirty="0"/>
              <a:t>Arduino IDE is used for programming and controlling Arduino-based hardware components.</a:t>
            </a:r>
          </a:p>
          <a:p>
            <a:r>
              <a:rPr lang="en-GB" dirty="0"/>
              <a:t>Python is used for image processing and </a:t>
            </a:r>
            <a:r>
              <a:rPr lang="en-GB" dirty="0" err="1"/>
              <a:t>color</a:t>
            </a:r>
            <a:r>
              <a:rPr lang="en-GB" dirty="0"/>
              <a:t> detection using the mobile camera.</a:t>
            </a:r>
          </a:p>
          <a:p>
            <a:endParaRPr lang="en-US" dirty="0"/>
          </a:p>
        </p:txBody>
      </p:sp>
      <p:pic>
        <p:nvPicPr>
          <p:cNvPr id="9" name="Picture 8">
            <a:extLst>
              <a:ext uri="{FF2B5EF4-FFF2-40B4-BE49-F238E27FC236}">
                <a16:creationId xmlns:a16="http://schemas.microsoft.com/office/drawing/2014/main" id="{5222C4E8-39B0-106A-46DD-796A81308C76}"/>
              </a:ext>
            </a:extLst>
          </p:cNvPr>
          <p:cNvPicPr>
            <a:picLocks noChangeAspect="1"/>
          </p:cNvPicPr>
          <p:nvPr/>
        </p:nvPicPr>
        <p:blipFill>
          <a:blip r:embed="rId5"/>
          <a:stretch>
            <a:fillRect/>
          </a:stretch>
        </p:blipFill>
        <p:spPr>
          <a:xfrm>
            <a:off x="7768827" y="3429000"/>
            <a:ext cx="2743813" cy="2281021"/>
          </a:xfrm>
          <a:prstGeom prst="rect">
            <a:avLst/>
          </a:prstGeom>
        </p:spPr>
      </p:pic>
      <p:pic>
        <p:nvPicPr>
          <p:cNvPr id="6" name="Picture 5">
            <a:extLst>
              <a:ext uri="{FF2B5EF4-FFF2-40B4-BE49-F238E27FC236}">
                <a16:creationId xmlns:a16="http://schemas.microsoft.com/office/drawing/2014/main" id="{B030D3DA-88C5-F6A9-31C0-2E78AED1C2A3}"/>
              </a:ext>
            </a:extLst>
          </p:cNvPr>
          <p:cNvPicPr>
            <a:picLocks noChangeAspect="1"/>
          </p:cNvPicPr>
          <p:nvPr/>
        </p:nvPicPr>
        <p:blipFill>
          <a:blip r:embed="rId6"/>
          <a:stretch>
            <a:fillRect/>
          </a:stretch>
        </p:blipFill>
        <p:spPr>
          <a:xfrm>
            <a:off x="6753627" y="-869817"/>
            <a:ext cx="5418667" cy="5418667"/>
          </a:xfrm>
          <a:prstGeom prst="rect">
            <a:avLst/>
          </a:prstGeom>
        </p:spPr>
      </p:pic>
    </p:spTree>
    <p:extLst>
      <p:ext uri="{BB962C8B-B14F-4D97-AF65-F5344CB8AC3E}">
        <p14:creationId xmlns:p14="http://schemas.microsoft.com/office/powerpoint/2010/main" val="2695121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University of Chakwal"/>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86590" y="318368"/>
            <a:ext cx="6022703" cy="5104731"/>
          </a:xfrm>
          <a:prstGeom prst="rect">
            <a:avLst/>
          </a:prstGeom>
          <a:noFill/>
          <a:ln>
            <a:noFill/>
          </a:ln>
          <a:effectLst/>
          <a:scene3d>
            <a:camera prst="orthographicFront">
              <a:rot lat="0" lon="0" rev="0"/>
            </a:camera>
            <a:lightRig rig="chilly" dir="t">
              <a:rot lat="0" lon="0" rev="18480000"/>
            </a:lightRig>
          </a:scene3d>
          <a:sp3d prstMaterial="clear">
            <a:bevelT h="63500"/>
          </a:sp3d>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a:xfrm>
            <a:off x="838200" y="109338"/>
            <a:ext cx="10515600" cy="1325563"/>
          </a:xfrm>
        </p:spPr>
        <p:txBody>
          <a:bodyPr>
            <a:normAutofit/>
          </a:bodyPr>
          <a:lstStyle/>
          <a:p>
            <a:r>
              <a:rPr lang="en-GB" sz="3600" b="1" dirty="0">
                <a:solidFill>
                  <a:srgbClr val="FF0000"/>
                </a:solidFill>
                <a:latin typeface="Times New Roman" panose="02020603050405020304" pitchFamily="18" charset="0"/>
                <a:cs typeface="Times New Roman" panose="02020603050405020304" pitchFamily="18" charset="0"/>
              </a:rPr>
              <a:t>Project </a:t>
            </a:r>
            <a:r>
              <a:rPr lang="en-US" sz="3600" b="1" dirty="0">
                <a:solidFill>
                  <a:srgbClr val="FF0000"/>
                </a:solidFill>
                <a:latin typeface="Times New Roman" panose="02020603050405020304" pitchFamily="18" charset="0"/>
                <a:cs typeface="Times New Roman" panose="02020603050405020304" pitchFamily="18" charset="0"/>
              </a:rPr>
              <a:t>Integration</a:t>
            </a:r>
          </a:p>
        </p:txBody>
      </p:sp>
      <p:sp>
        <p:nvSpPr>
          <p:cNvPr id="10" name="Footer Placeholder 9"/>
          <p:cNvSpPr>
            <a:spLocks noGrp="1"/>
          </p:cNvSpPr>
          <p:nvPr>
            <p:ph type="ftr" sz="quarter" idx="11"/>
          </p:nvPr>
        </p:nvSpPr>
        <p:spPr/>
        <p:txBody>
          <a:bodyPr/>
          <a:lstStyle/>
          <a:p>
            <a:r>
              <a:rPr lang="en-US"/>
              <a:t>Final Year Design Project</a:t>
            </a:r>
            <a:endParaRPr lang="en-US" dirty="0"/>
          </a:p>
        </p:txBody>
      </p:sp>
      <p:sp>
        <p:nvSpPr>
          <p:cNvPr id="3" name="Date Placeholder 2">
            <a:extLst>
              <a:ext uri="{FF2B5EF4-FFF2-40B4-BE49-F238E27FC236}">
                <a16:creationId xmlns:a16="http://schemas.microsoft.com/office/drawing/2014/main" id="{9831DF90-2966-47DD-83A1-9A43C0C3276F}"/>
              </a:ext>
            </a:extLst>
          </p:cNvPr>
          <p:cNvSpPr>
            <a:spLocks noGrp="1"/>
          </p:cNvSpPr>
          <p:nvPr>
            <p:ph type="dt" sz="half" idx="10"/>
          </p:nvPr>
        </p:nvSpPr>
        <p:spPr/>
        <p:txBody>
          <a:bodyPr/>
          <a:lstStyle/>
          <a:p>
            <a:fld id="{315F99F0-876B-45FA-8CBD-8736EBFBE239}" type="datetime2">
              <a:rPr lang="en-US" smtClean="0"/>
              <a:t>Wednesday, May 20, 2026</a:t>
            </a:fld>
            <a:endParaRPr lang="en-US" dirty="0"/>
          </a:p>
        </p:txBody>
      </p:sp>
      <p:sp>
        <p:nvSpPr>
          <p:cNvPr id="7" name="TextBox 6">
            <a:extLst>
              <a:ext uri="{FF2B5EF4-FFF2-40B4-BE49-F238E27FC236}">
                <a16:creationId xmlns:a16="http://schemas.microsoft.com/office/drawing/2014/main" id="{A4BF563A-F562-2A24-0152-694171152CAB}"/>
              </a:ext>
            </a:extLst>
          </p:cNvPr>
          <p:cNvSpPr txBox="1"/>
          <p:nvPr/>
        </p:nvSpPr>
        <p:spPr>
          <a:xfrm>
            <a:off x="1049216" y="1184929"/>
            <a:ext cx="6294120" cy="2677656"/>
          </a:xfrm>
          <a:prstGeom prst="rect">
            <a:avLst/>
          </a:prstGeom>
          <a:noFill/>
        </p:spPr>
        <p:txBody>
          <a:bodyPr wrap="square">
            <a:spAutoFit/>
          </a:bodyPr>
          <a:lstStyle/>
          <a:p>
            <a:pPr marL="342900" indent="-342900">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Integration of mobile camera, PLC, Arduino, and robotic arm
Python used for image processing and </a:t>
            </a:r>
            <a:r>
              <a:rPr lang="en-GB" sz="2400" dirty="0" err="1">
                <a:latin typeface="Times New Roman" panose="02020603050405020304" pitchFamily="18" charset="0"/>
                <a:cs typeface="Times New Roman" panose="02020603050405020304" pitchFamily="18" charset="0"/>
              </a:rPr>
              <a:t>color</a:t>
            </a:r>
            <a:r>
              <a:rPr lang="en-GB" sz="2400" dirty="0">
                <a:latin typeface="Times New Roman" panose="02020603050405020304" pitchFamily="18" charset="0"/>
                <a:cs typeface="Times New Roman" panose="02020603050405020304" pitchFamily="18" charset="0"/>
              </a:rPr>
              <a:t> detection
PLC controls conveyor and sorting operation
Proper synchronization ensures smooth real-time performance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102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University of Chakwal"/>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86590" y="381673"/>
            <a:ext cx="6022703" cy="5104731"/>
          </a:xfrm>
          <a:prstGeom prst="rect">
            <a:avLst/>
          </a:prstGeom>
          <a:noFill/>
          <a:ln>
            <a:noFill/>
          </a:ln>
          <a:effectLst/>
          <a:scene3d>
            <a:camera prst="orthographicFront">
              <a:rot lat="0" lon="0" rev="0"/>
            </a:camera>
            <a:lightRig rig="chilly" dir="t">
              <a:rot lat="0" lon="0" rev="18480000"/>
            </a:lightRig>
          </a:scene3d>
          <a:sp3d prstMaterial="clear">
            <a:bevelT h="63500"/>
          </a:sp3d>
          <a:extLst>
            <a:ext uri="{909E8E84-426E-40DD-AFC4-6F175D3DCCD1}">
              <a14:hiddenFill xmlns:a14="http://schemas.microsoft.com/office/drawing/2010/main">
                <a:solidFill>
                  <a:srgbClr val="FFFFFF"/>
                </a:solidFill>
              </a14:hiddenFill>
            </a:ext>
          </a:extLst>
        </p:spPr>
      </p:pic>
      <p:sp>
        <p:nvSpPr>
          <p:cNvPr id="5" name="Title 4"/>
          <p:cNvSpPr>
            <a:spLocks noGrp="1"/>
          </p:cNvSpPr>
          <p:nvPr>
            <p:ph type="title"/>
          </p:nvPr>
        </p:nvSpPr>
        <p:spPr>
          <a:xfrm>
            <a:off x="892342" y="-60098"/>
            <a:ext cx="7036498" cy="1123492"/>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Challenges and Solutions</a:t>
            </a:r>
          </a:p>
        </p:txBody>
      </p:sp>
      <p:sp>
        <p:nvSpPr>
          <p:cNvPr id="10" name="Footer Placeholder 9"/>
          <p:cNvSpPr>
            <a:spLocks noGrp="1"/>
          </p:cNvSpPr>
          <p:nvPr>
            <p:ph type="ftr" sz="quarter" idx="11"/>
          </p:nvPr>
        </p:nvSpPr>
        <p:spPr/>
        <p:txBody>
          <a:bodyPr/>
          <a:lstStyle/>
          <a:p>
            <a:r>
              <a:rPr lang="en-US"/>
              <a:t>Final Year Design Project</a:t>
            </a:r>
            <a:endParaRPr lang="en-US" dirty="0"/>
          </a:p>
        </p:txBody>
      </p:sp>
      <p:sp>
        <p:nvSpPr>
          <p:cNvPr id="3" name="Date Placeholder 2">
            <a:extLst>
              <a:ext uri="{FF2B5EF4-FFF2-40B4-BE49-F238E27FC236}">
                <a16:creationId xmlns:a16="http://schemas.microsoft.com/office/drawing/2014/main" id="{0FC50ACB-7CFB-4937-86B4-2246C78081FE}"/>
              </a:ext>
            </a:extLst>
          </p:cNvPr>
          <p:cNvSpPr>
            <a:spLocks noGrp="1"/>
          </p:cNvSpPr>
          <p:nvPr>
            <p:ph type="dt" sz="half" idx="10"/>
          </p:nvPr>
        </p:nvSpPr>
        <p:spPr/>
        <p:txBody>
          <a:bodyPr/>
          <a:lstStyle/>
          <a:p>
            <a:fld id="{B514AFB4-126E-4618-BE14-7448A324A28C}" type="datetime2">
              <a:rPr lang="en-US" smtClean="0"/>
              <a:t>Wednesday, May 20, 2026</a:t>
            </a:fld>
            <a:endParaRPr lang="en-US" dirty="0"/>
          </a:p>
        </p:txBody>
      </p:sp>
      <p:sp>
        <p:nvSpPr>
          <p:cNvPr id="8" name="TextBox 7">
            <a:extLst>
              <a:ext uri="{FF2B5EF4-FFF2-40B4-BE49-F238E27FC236}">
                <a16:creationId xmlns:a16="http://schemas.microsoft.com/office/drawing/2014/main" id="{D3F3B623-654E-EEFC-74E4-EFC2A1142ADF}"/>
              </a:ext>
            </a:extLst>
          </p:cNvPr>
          <p:cNvSpPr txBox="1"/>
          <p:nvPr/>
        </p:nvSpPr>
        <p:spPr>
          <a:xfrm>
            <a:off x="3046828" y="3989183"/>
            <a:ext cx="7150546" cy="1938992"/>
          </a:xfrm>
          <a:prstGeom prst="rect">
            <a:avLst/>
          </a:prstGeom>
          <a:noFill/>
        </p:spPr>
        <p:txBody>
          <a:bodyPr wrap="square">
            <a:spAutoFit/>
          </a:bodyPr>
          <a:lstStyle/>
          <a:p>
            <a:pPr>
              <a:buNone/>
            </a:pPr>
            <a:r>
              <a:rPr lang="en-US" sz="2400" b="1" dirty="0" err="1">
                <a:latin typeface="Times New Roman" panose="02020603050405020304" pitchFamily="18" charset="0"/>
                <a:cs typeface="Times New Roman" panose="02020603050405020304" pitchFamily="18" charset="0"/>
              </a:rPr>
              <a:t>Outc</a:t>
            </a:r>
            <a:r>
              <a:rPr lang="en-GB" sz="2400" b="1" dirty="0" err="1">
                <a:latin typeface="Times New Roman" panose="02020603050405020304" pitchFamily="18" charset="0"/>
                <a:cs typeface="Times New Roman" panose="02020603050405020304" pitchFamily="18" charset="0"/>
              </a:rPr>
              <a:t>omes</a:t>
            </a:r>
            <a:endParaRPr lang="en-GB" sz="2400" b="1" dirty="0">
              <a:latin typeface="Times New Roman" panose="02020603050405020304" pitchFamily="18" charset="0"/>
              <a:cs typeface="Times New Roman" panose="02020603050405020304" pitchFamily="18" charset="0"/>
            </a:endParaRPr>
          </a:p>
          <a:p>
            <a:pPr>
              <a:buNone/>
            </a:pPr>
            <a:r>
              <a:rPr lang="en-GB" sz="2400" dirty="0">
                <a:latin typeface="Times New Roman" panose="02020603050405020304" pitchFamily="18" charset="0"/>
                <a:cs typeface="Times New Roman" panose="02020603050405020304" pitchFamily="18" charset="0"/>
              </a:rPr>
              <a:t>Accurate automatic sorting achieved
Successful PLC and image processing integration
Reduced human effort and errors
Improved industrial efficiency and automation</a:t>
            </a:r>
            <a:endParaRPr lang="en-US" sz="2400"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3B53699A-E8F0-9600-FCB4-D4C1435E59F0}"/>
              </a:ext>
            </a:extLst>
          </p:cNvPr>
          <p:cNvGraphicFramePr>
            <a:graphicFrameLocks noGrp="1"/>
          </p:cNvGraphicFramePr>
          <p:nvPr>
            <p:extLst>
              <p:ext uri="{D42A27DB-BD31-4B8C-83A1-F6EECF244321}">
                <p14:modId xmlns:p14="http://schemas.microsoft.com/office/powerpoint/2010/main" val="852169286"/>
              </p:ext>
            </p:extLst>
          </p:nvPr>
        </p:nvGraphicFramePr>
        <p:xfrm>
          <a:off x="1994626" y="1318168"/>
          <a:ext cx="8202748" cy="2450130"/>
        </p:xfrm>
        <a:graphic>
          <a:graphicData uri="http://schemas.openxmlformats.org/drawingml/2006/table">
            <a:tbl>
              <a:tblPr>
                <a:tableStyleId>{5DA37D80-6434-44D0-A028-1B22A696006F}</a:tableStyleId>
              </a:tblPr>
              <a:tblGrid>
                <a:gridCol w="4101374">
                  <a:extLst>
                    <a:ext uri="{9D8B030D-6E8A-4147-A177-3AD203B41FA5}">
                      <a16:colId xmlns:a16="http://schemas.microsoft.com/office/drawing/2014/main" val="248809070"/>
                    </a:ext>
                  </a:extLst>
                </a:gridCol>
                <a:gridCol w="4101374">
                  <a:extLst>
                    <a:ext uri="{9D8B030D-6E8A-4147-A177-3AD203B41FA5}">
                      <a16:colId xmlns:a16="http://schemas.microsoft.com/office/drawing/2014/main" val="2776338175"/>
                    </a:ext>
                  </a:extLst>
                </a:gridCol>
              </a:tblGrid>
              <a:tr h="408355">
                <a:tc>
                  <a:txBody>
                    <a:bodyPr/>
                    <a:lstStyle/>
                    <a:p>
                      <a:pPr>
                        <a:buNone/>
                      </a:pPr>
                      <a:r>
                        <a:rPr lang="en-US" b="1">
                          <a:latin typeface="Times New Roman" panose="02020603050405020304" pitchFamily="18" charset="0"/>
                          <a:cs typeface="Times New Roman" panose="02020603050405020304" pitchFamily="18" charset="0"/>
                        </a:rPr>
                        <a:t>Challenge</a:t>
                      </a:r>
                    </a:p>
                  </a:txBody>
                  <a:tcPr anchor="ctr">
                    <a:solidFill>
                      <a:schemeClr val="accent2">
                        <a:lumMod val="60000"/>
                        <a:lumOff val="40000"/>
                      </a:schemeClr>
                    </a:solidFill>
                  </a:tcPr>
                </a:tc>
                <a:tc>
                  <a:txBody>
                    <a:bodyPr/>
                    <a:lstStyle/>
                    <a:p>
                      <a:pPr>
                        <a:buNone/>
                      </a:pPr>
                      <a:r>
                        <a:rPr lang="en-US" b="1" dirty="0">
                          <a:latin typeface="Times New Roman" panose="02020603050405020304" pitchFamily="18" charset="0"/>
                          <a:cs typeface="Times New Roman" panose="02020603050405020304" pitchFamily="18" charset="0"/>
                        </a:rPr>
                        <a:t>Solution</a:t>
                      </a:r>
                    </a:p>
                  </a:txBody>
                  <a:tcPr anchor="ctr">
                    <a:solidFill>
                      <a:schemeClr val="accent2">
                        <a:lumMod val="60000"/>
                        <a:lumOff val="40000"/>
                      </a:schemeClr>
                    </a:solidFill>
                  </a:tcPr>
                </a:tc>
                <a:extLst>
                  <a:ext uri="{0D108BD9-81ED-4DB2-BD59-A6C34878D82A}">
                    <a16:rowId xmlns:a16="http://schemas.microsoft.com/office/drawing/2014/main" val="1597431758"/>
                  </a:ext>
                </a:extLst>
              </a:tr>
              <a:tr h="408355">
                <a:tc>
                  <a:txBody>
                    <a:bodyPr/>
                    <a:lstStyle/>
                    <a:p>
                      <a:pPr>
                        <a:buNone/>
                      </a:pPr>
                      <a:r>
                        <a:rPr lang="en-GB" dirty="0" err="1">
                          <a:latin typeface="Times New Roman" panose="02020603050405020304" pitchFamily="18" charset="0"/>
                          <a:cs typeface="Times New Roman" panose="02020603050405020304" pitchFamily="18" charset="0"/>
                        </a:rPr>
                        <a:t>Color</a:t>
                      </a:r>
                      <a:r>
                        <a:rPr lang="en-GB" dirty="0">
                          <a:latin typeface="Times New Roman" panose="02020603050405020304" pitchFamily="18" charset="0"/>
                          <a:cs typeface="Times New Roman" panose="02020603050405020304" pitchFamily="18" charset="0"/>
                        </a:rPr>
                        <a:t> detection accuracy </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GB" dirty="0">
                          <a:latin typeface="Times New Roman" panose="02020603050405020304" pitchFamily="18" charset="0"/>
                          <a:cs typeface="Times New Roman" panose="02020603050405020304" pitchFamily="18" charset="0"/>
                        </a:rPr>
                        <a:t>Image processing with mobile camera</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30430341"/>
                  </a:ext>
                </a:extLst>
              </a:tr>
              <a:tr h="408355">
                <a:tc>
                  <a:txBody>
                    <a:bodyPr/>
                    <a:lstStyle/>
                    <a:p>
                      <a:pPr>
                        <a:buNone/>
                      </a:pPr>
                      <a:r>
                        <a:rPr lang="en-GB" dirty="0">
                          <a:latin typeface="Times New Roman" panose="02020603050405020304" pitchFamily="18" charset="0"/>
                          <a:cs typeface="Times New Roman" panose="02020603050405020304" pitchFamily="18" charset="0"/>
                        </a:rPr>
                        <a:t>Plc and robotic arm synchronization </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GB" dirty="0">
                          <a:latin typeface="Times New Roman" panose="02020603050405020304" pitchFamily="18" charset="0"/>
                          <a:cs typeface="Times New Roman" panose="02020603050405020304" pitchFamily="18" charset="0"/>
                        </a:rPr>
                        <a:t>Optimized PLC programming </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77138778"/>
                  </a:ext>
                </a:extLst>
              </a:tr>
              <a:tr h="408355">
                <a:tc>
                  <a:txBody>
                    <a:bodyPr/>
                    <a:lstStyle/>
                    <a:p>
                      <a:pPr>
                        <a:buNone/>
                      </a:pPr>
                      <a:r>
                        <a:rPr lang="en-GB" dirty="0">
                          <a:latin typeface="Times New Roman" panose="02020603050405020304" pitchFamily="18" charset="0"/>
                          <a:cs typeface="Times New Roman" panose="02020603050405020304" pitchFamily="18" charset="0"/>
                        </a:rPr>
                        <a:t>Conveyor speed control </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GB" dirty="0">
                          <a:latin typeface="Times New Roman" panose="02020603050405020304" pitchFamily="18" charset="0"/>
                          <a:cs typeface="Times New Roman" panose="02020603050405020304" pitchFamily="18" charset="0"/>
                        </a:rPr>
                        <a:t>Controlled motor operation</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67333187"/>
                  </a:ext>
                </a:extLst>
              </a:tr>
              <a:tr h="408355">
                <a:tc>
                  <a:txBody>
                    <a:bodyPr/>
                    <a:lstStyle/>
                    <a:p>
                      <a:pPr>
                        <a:buNone/>
                      </a:pPr>
                      <a:r>
                        <a:rPr lang="en-GB" dirty="0">
                          <a:latin typeface="Times New Roman" panose="02020603050405020304" pitchFamily="18" charset="0"/>
                          <a:cs typeface="Times New Roman" panose="02020603050405020304" pitchFamily="18" charset="0"/>
                        </a:rPr>
                        <a:t>Hardware interfacing </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GB" dirty="0">
                          <a:latin typeface="Times New Roman" panose="02020603050405020304" pitchFamily="18" charset="0"/>
                          <a:cs typeface="Times New Roman" panose="02020603050405020304" pitchFamily="18" charset="0"/>
                        </a:rPr>
                        <a:t>Proper system integration </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68422763"/>
                  </a:ext>
                </a:extLst>
              </a:tr>
              <a:tr h="408355">
                <a:tc>
                  <a:txBody>
                    <a:bodyPr/>
                    <a:lstStyle/>
                    <a:p>
                      <a:pPr>
                        <a:buNone/>
                      </a:pPr>
                      <a:r>
                        <a:rPr lang="en-US" dirty="0">
                          <a:latin typeface="Times New Roman" panose="02020603050405020304" pitchFamily="18" charset="0"/>
                          <a:cs typeface="Times New Roman" panose="02020603050405020304" pitchFamily="18" charset="0"/>
                        </a:rPr>
                        <a:t>Communication issues</a:t>
                      </a:r>
                    </a:p>
                  </a:txBody>
                  <a:tcPr anchor="ctr"/>
                </a:tc>
                <a:tc>
                  <a:txBody>
                    <a:bodyPr/>
                    <a:lstStyle/>
                    <a:p>
                      <a:pPr>
                        <a:buNone/>
                      </a:pPr>
                      <a:r>
                        <a:rPr lang="en-GB" dirty="0">
                          <a:latin typeface="Times New Roman" panose="02020603050405020304" pitchFamily="18" charset="0"/>
                          <a:cs typeface="Times New Roman" panose="02020603050405020304" pitchFamily="18" charset="0"/>
                        </a:rPr>
                        <a:t>Correct baud rate configuration used</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80979781"/>
                  </a:ext>
                </a:extLst>
              </a:tr>
            </a:tbl>
          </a:graphicData>
        </a:graphic>
      </p:graphicFrame>
    </p:spTree>
    <p:extLst>
      <p:ext uri="{BB962C8B-B14F-4D97-AF65-F5344CB8AC3E}">
        <p14:creationId xmlns:p14="http://schemas.microsoft.com/office/powerpoint/2010/main" val="2121004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178CF-06FA-DFE7-F19B-F67669D2D36D}"/>
            </a:ext>
          </a:extLst>
        </p:cNvPr>
        <p:cNvGrpSpPr/>
        <p:nvPr/>
      </p:nvGrpSpPr>
      <p:grpSpPr>
        <a:xfrm>
          <a:off x="0" y="0"/>
          <a:ext cx="0" cy="0"/>
          <a:chOff x="0" y="0"/>
          <a:chExt cx="0" cy="0"/>
        </a:xfrm>
      </p:grpSpPr>
      <p:pic>
        <p:nvPicPr>
          <p:cNvPr id="2" name="Picture 6" descr="University of Chakwal">
            <a:extLst>
              <a:ext uri="{FF2B5EF4-FFF2-40B4-BE49-F238E27FC236}">
                <a16:creationId xmlns:a16="http://schemas.microsoft.com/office/drawing/2014/main" id="{1B1D900E-2FDF-A73A-1E6D-02DF6591047E}"/>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86590" y="381673"/>
            <a:ext cx="6022703" cy="5104731"/>
          </a:xfrm>
          <a:prstGeom prst="rect">
            <a:avLst/>
          </a:prstGeom>
          <a:noFill/>
          <a:ln>
            <a:noFill/>
          </a:ln>
          <a:effectLst/>
          <a:scene3d>
            <a:camera prst="orthographicFront">
              <a:rot lat="0" lon="0" rev="0"/>
            </a:camera>
            <a:lightRig rig="chilly" dir="t">
              <a:rot lat="0" lon="0" rev="18480000"/>
            </a:lightRig>
          </a:scene3d>
          <a:sp3d prstMaterial="clear">
            <a:bevelT h="63500"/>
          </a:sp3d>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B2AA6562-2793-E410-DE98-8200F98599E3}"/>
              </a:ext>
            </a:extLst>
          </p:cNvPr>
          <p:cNvSpPr>
            <a:spLocks noGrp="1"/>
          </p:cNvSpPr>
          <p:nvPr>
            <p:ph type="title"/>
          </p:nvPr>
        </p:nvSpPr>
        <p:spPr>
          <a:xfrm>
            <a:off x="892342" y="-60098"/>
            <a:ext cx="7036498" cy="1123492"/>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Experimental Testing and Results</a:t>
            </a:r>
          </a:p>
        </p:txBody>
      </p:sp>
      <p:sp>
        <p:nvSpPr>
          <p:cNvPr id="10" name="Footer Placeholder 9">
            <a:extLst>
              <a:ext uri="{FF2B5EF4-FFF2-40B4-BE49-F238E27FC236}">
                <a16:creationId xmlns:a16="http://schemas.microsoft.com/office/drawing/2014/main" id="{E7E57B38-D9DE-63CD-4C89-171B875EA8BB}"/>
              </a:ext>
            </a:extLst>
          </p:cNvPr>
          <p:cNvSpPr>
            <a:spLocks noGrp="1"/>
          </p:cNvSpPr>
          <p:nvPr>
            <p:ph type="ftr" sz="quarter" idx="11"/>
          </p:nvPr>
        </p:nvSpPr>
        <p:spPr/>
        <p:txBody>
          <a:bodyPr/>
          <a:lstStyle/>
          <a:p>
            <a:r>
              <a:rPr lang="en-US"/>
              <a:t>Final Year Design Project</a:t>
            </a:r>
            <a:endParaRPr lang="en-US" dirty="0"/>
          </a:p>
        </p:txBody>
      </p:sp>
      <p:sp>
        <p:nvSpPr>
          <p:cNvPr id="3" name="Date Placeholder 2">
            <a:extLst>
              <a:ext uri="{FF2B5EF4-FFF2-40B4-BE49-F238E27FC236}">
                <a16:creationId xmlns:a16="http://schemas.microsoft.com/office/drawing/2014/main" id="{0D76C082-5C38-0C14-C057-79649811B59C}"/>
              </a:ext>
            </a:extLst>
          </p:cNvPr>
          <p:cNvSpPr>
            <a:spLocks noGrp="1"/>
          </p:cNvSpPr>
          <p:nvPr>
            <p:ph type="dt" sz="half" idx="10"/>
          </p:nvPr>
        </p:nvSpPr>
        <p:spPr/>
        <p:txBody>
          <a:bodyPr/>
          <a:lstStyle/>
          <a:p>
            <a:fld id="{B514AFB4-126E-4618-BE14-7448A324A28C}" type="datetime2">
              <a:rPr lang="en-US" smtClean="0"/>
              <a:t>Wednesday, May 20, 2026</a:t>
            </a:fld>
            <a:endParaRPr lang="en-US" dirty="0"/>
          </a:p>
        </p:txBody>
      </p:sp>
      <p:sp>
        <p:nvSpPr>
          <p:cNvPr id="7" name="TextBox 6">
            <a:extLst>
              <a:ext uri="{FF2B5EF4-FFF2-40B4-BE49-F238E27FC236}">
                <a16:creationId xmlns:a16="http://schemas.microsoft.com/office/drawing/2014/main" id="{7AAAE628-807B-3F44-89FB-06B09B8CE627}"/>
              </a:ext>
            </a:extLst>
          </p:cNvPr>
          <p:cNvSpPr txBox="1"/>
          <p:nvPr/>
        </p:nvSpPr>
        <p:spPr>
          <a:xfrm>
            <a:off x="989428" y="1371596"/>
            <a:ext cx="6098344" cy="3785652"/>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Tests Performed</a:t>
            </a:r>
            <a:r>
              <a:rPr lang="en-GB" sz="2400" dirty="0">
                <a:latin typeface="Times New Roman" panose="02020603050405020304" pitchFamily="18" charset="0"/>
                <a:cs typeface="Times New Roman" panose="02020603050405020304" pitchFamily="18" charset="0"/>
              </a:rPr>
              <a:t>
Tested with multiple </a:t>
            </a:r>
            <a:r>
              <a:rPr lang="en-GB" sz="2400" dirty="0" err="1">
                <a:latin typeface="Times New Roman" panose="02020603050405020304" pitchFamily="18" charset="0"/>
                <a:cs typeface="Times New Roman" panose="02020603050405020304" pitchFamily="18" charset="0"/>
              </a:rPr>
              <a:t>colored</a:t>
            </a:r>
            <a:r>
              <a:rPr lang="en-GB" sz="2400" dirty="0">
                <a:latin typeface="Times New Roman" panose="02020603050405020304" pitchFamily="18" charset="0"/>
                <a:cs typeface="Times New Roman" panose="02020603050405020304" pitchFamily="18" charset="0"/>
              </a:rPr>
              <a:t> objects
Verified camera-based </a:t>
            </a:r>
            <a:r>
              <a:rPr lang="en-GB" sz="2400" dirty="0" err="1">
                <a:latin typeface="Times New Roman" panose="02020603050405020304" pitchFamily="18" charset="0"/>
                <a:cs typeface="Times New Roman" panose="02020603050405020304" pitchFamily="18" charset="0"/>
              </a:rPr>
              <a:t>color</a:t>
            </a:r>
            <a:r>
              <a:rPr lang="en-GB" sz="2400" dirty="0">
                <a:latin typeface="Times New Roman" panose="02020603050405020304" pitchFamily="18" charset="0"/>
                <a:cs typeface="Times New Roman" panose="02020603050405020304" pitchFamily="18" charset="0"/>
              </a:rPr>
              <a:t> detection
Checked PLC and robotic arm synchronization
Performed real-time sorting trials</a:t>
            </a: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Results Achieved</a:t>
            </a:r>
          </a:p>
          <a:p>
            <a:r>
              <a:rPr lang="en-GB" sz="2400" dirty="0">
                <a:latin typeface="Times New Roman" panose="02020603050405020304" pitchFamily="18" charset="0"/>
                <a:cs typeface="Times New Roman" panose="02020603050405020304" pitchFamily="18" charset="0"/>
              </a:rPr>
              <a:t>Stable autonomous flight 
Successful waypoint navigation 
Reliable obstacle detection 
Accurate payload deployment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8685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8B3B6-A6CA-4D9E-2BF6-80357C36C4B6}"/>
            </a:ext>
          </a:extLst>
        </p:cNvPr>
        <p:cNvGrpSpPr/>
        <p:nvPr/>
      </p:nvGrpSpPr>
      <p:grpSpPr>
        <a:xfrm>
          <a:off x="0" y="0"/>
          <a:ext cx="0" cy="0"/>
          <a:chOff x="0" y="0"/>
          <a:chExt cx="0" cy="0"/>
        </a:xfrm>
      </p:grpSpPr>
      <p:pic>
        <p:nvPicPr>
          <p:cNvPr id="2" name="Picture 6" descr="University of Chakwal">
            <a:extLst>
              <a:ext uri="{FF2B5EF4-FFF2-40B4-BE49-F238E27FC236}">
                <a16:creationId xmlns:a16="http://schemas.microsoft.com/office/drawing/2014/main" id="{E53BAE53-AC99-6D0E-EBC1-88916C8275E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86590" y="381673"/>
            <a:ext cx="6022703" cy="5104731"/>
          </a:xfrm>
          <a:prstGeom prst="rect">
            <a:avLst/>
          </a:prstGeom>
          <a:noFill/>
          <a:ln>
            <a:noFill/>
          </a:ln>
          <a:effectLst/>
          <a:scene3d>
            <a:camera prst="orthographicFront">
              <a:rot lat="0" lon="0" rev="0"/>
            </a:camera>
            <a:lightRig rig="chilly" dir="t">
              <a:rot lat="0" lon="0" rev="18480000"/>
            </a:lightRig>
          </a:scene3d>
          <a:sp3d prstMaterial="clear">
            <a:bevelT h="63500"/>
          </a:sp3d>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2B11C422-FE07-3896-C61A-503F676DCEDB}"/>
              </a:ext>
            </a:extLst>
          </p:cNvPr>
          <p:cNvSpPr>
            <a:spLocks noGrp="1"/>
          </p:cNvSpPr>
          <p:nvPr>
            <p:ph type="title"/>
          </p:nvPr>
        </p:nvSpPr>
        <p:spPr>
          <a:xfrm>
            <a:off x="892342" y="-60098"/>
            <a:ext cx="7036498" cy="1123492"/>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Applications of the Project</a:t>
            </a:r>
          </a:p>
        </p:txBody>
      </p:sp>
      <p:sp>
        <p:nvSpPr>
          <p:cNvPr id="10" name="Footer Placeholder 9">
            <a:extLst>
              <a:ext uri="{FF2B5EF4-FFF2-40B4-BE49-F238E27FC236}">
                <a16:creationId xmlns:a16="http://schemas.microsoft.com/office/drawing/2014/main" id="{3CCDD299-DBC1-DE3A-2205-E3225D2D26D5}"/>
              </a:ext>
            </a:extLst>
          </p:cNvPr>
          <p:cNvSpPr>
            <a:spLocks noGrp="1"/>
          </p:cNvSpPr>
          <p:nvPr>
            <p:ph type="ftr" sz="quarter" idx="11"/>
          </p:nvPr>
        </p:nvSpPr>
        <p:spPr/>
        <p:txBody>
          <a:bodyPr/>
          <a:lstStyle/>
          <a:p>
            <a:r>
              <a:rPr lang="en-US"/>
              <a:t>Final Year Design Project</a:t>
            </a:r>
            <a:endParaRPr lang="en-US" dirty="0"/>
          </a:p>
        </p:txBody>
      </p:sp>
      <p:sp>
        <p:nvSpPr>
          <p:cNvPr id="3" name="Date Placeholder 2">
            <a:extLst>
              <a:ext uri="{FF2B5EF4-FFF2-40B4-BE49-F238E27FC236}">
                <a16:creationId xmlns:a16="http://schemas.microsoft.com/office/drawing/2014/main" id="{17D99F45-EA27-0C48-2D93-AD49007CC54B}"/>
              </a:ext>
            </a:extLst>
          </p:cNvPr>
          <p:cNvSpPr>
            <a:spLocks noGrp="1"/>
          </p:cNvSpPr>
          <p:nvPr>
            <p:ph type="dt" sz="half" idx="10"/>
          </p:nvPr>
        </p:nvSpPr>
        <p:spPr/>
        <p:txBody>
          <a:bodyPr/>
          <a:lstStyle/>
          <a:p>
            <a:fld id="{B514AFB4-126E-4618-BE14-7448A324A28C}" type="datetime2">
              <a:rPr lang="en-US" smtClean="0"/>
              <a:t>Wednesday, May 20, 2026</a:t>
            </a:fld>
            <a:endParaRPr lang="en-US" dirty="0"/>
          </a:p>
        </p:txBody>
      </p:sp>
      <p:sp>
        <p:nvSpPr>
          <p:cNvPr id="7" name="TextBox 6">
            <a:extLst>
              <a:ext uri="{FF2B5EF4-FFF2-40B4-BE49-F238E27FC236}">
                <a16:creationId xmlns:a16="http://schemas.microsoft.com/office/drawing/2014/main" id="{9C26794E-4057-9125-6788-2B627086AA99}"/>
              </a:ext>
            </a:extLst>
          </p:cNvPr>
          <p:cNvSpPr txBox="1"/>
          <p:nvPr/>
        </p:nvSpPr>
        <p:spPr>
          <a:xfrm>
            <a:off x="1137863" y="1063394"/>
            <a:ext cx="4237786" cy="5170646"/>
          </a:xfrm>
          <a:prstGeom prst="rect">
            <a:avLst/>
          </a:prstGeom>
          <a:noFill/>
        </p:spPr>
        <p:txBody>
          <a:bodyPr wrap="square">
            <a:spAutoFit/>
          </a:bodyPr>
          <a:lstStyle/>
          <a:p>
            <a:r>
              <a:rPr lang="en-GB" sz="3000" dirty="0">
                <a:latin typeface="Times New Roman" panose="02020603050405020304" pitchFamily="18" charset="0"/>
                <a:cs typeface="Times New Roman" panose="02020603050405020304" pitchFamily="18" charset="0"/>
              </a:rPr>
              <a:t>Industrial automation
Manufacturing industries
Packaging systems
Food processing industries
Recycling systems</a:t>
            </a:r>
          </a:p>
          <a:p>
            <a:r>
              <a:rPr lang="en-GB" sz="3000" dirty="0">
                <a:latin typeface="Times New Roman" panose="02020603050405020304" pitchFamily="18" charset="0"/>
                <a:cs typeface="Times New Roman" panose="02020603050405020304" pitchFamily="18" charset="0"/>
              </a:rPr>
              <a:t>Warehouse automation
Logistics and distribution </a:t>
            </a:r>
            <a:r>
              <a:rPr lang="en-GB" sz="3000" dirty="0" err="1">
                <a:latin typeface="Times New Roman" panose="02020603050405020304" pitchFamily="18" charset="0"/>
                <a:cs typeface="Times New Roman" panose="02020603050405020304" pitchFamily="18" charset="0"/>
              </a:rPr>
              <a:t>centers</a:t>
            </a:r>
            <a:r>
              <a:rPr lang="en-GB" sz="3000" dirty="0">
                <a:latin typeface="Times New Roman" panose="02020603050405020304" pitchFamily="18" charset="0"/>
                <a:cs typeface="Times New Roman" panose="02020603050405020304" pitchFamily="18" charset="0"/>
              </a:rPr>
              <a:t>
Quality control systems
Smart factories</a:t>
            </a: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40170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944E4-9618-A931-6181-0D8759038DD6}"/>
            </a:ext>
          </a:extLst>
        </p:cNvPr>
        <p:cNvGrpSpPr/>
        <p:nvPr/>
      </p:nvGrpSpPr>
      <p:grpSpPr>
        <a:xfrm>
          <a:off x="0" y="0"/>
          <a:ext cx="0" cy="0"/>
          <a:chOff x="0" y="0"/>
          <a:chExt cx="0" cy="0"/>
        </a:xfrm>
      </p:grpSpPr>
      <p:pic>
        <p:nvPicPr>
          <p:cNvPr id="2" name="Picture 6" descr="University of Chakwal">
            <a:extLst>
              <a:ext uri="{FF2B5EF4-FFF2-40B4-BE49-F238E27FC236}">
                <a16:creationId xmlns:a16="http://schemas.microsoft.com/office/drawing/2014/main" id="{7D47A465-2E65-3E67-6026-8C15D57CF900}"/>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86590" y="381673"/>
            <a:ext cx="6022703" cy="5104731"/>
          </a:xfrm>
          <a:prstGeom prst="rect">
            <a:avLst/>
          </a:prstGeom>
          <a:noFill/>
          <a:ln>
            <a:noFill/>
          </a:ln>
          <a:effectLst/>
          <a:scene3d>
            <a:camera prst="orthographicFront">
              <a:rot lat="0" lon="0" rev="0"/>
            </a:camera>
            <a:lightRig rig="chilly" dir="t">
              <a:rot lat="0" lon="0" rev="18480000"/>
            </a:lightRig>
          </a:scene3d>
          <a:sp3d prstMaterial="clear">
            <a:bevelT h="63500"/>
          </a:sp3d>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7409336E-33E9-1045-7E35-CB8EB4146A49}"/>
              </a:ext>
            </a:extLst>
          </p:cNvPr>
          <p:cNvSpPr>
            <a:spLocks noGrp="1"/>
          </p:cNvSpPr>
          <p:nvPr>
            <p:ph type="title"/>
          </p:nvPr>
        </p:nvSpPr>
        <p:spPr>
          <a:xfrm>
            <a:off x="1172308" y="129746"/>
            <a:ext cx="7036498" cy="1123492"/>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Conclusion</a:t>
            </a:r>
          </a:p>
        </p:txBody>
      </p:sp>
      <p:sp>
        <p:nvSpPr>
          <p:cNvPr id="10" name="Footer Placeholder 9">
            <a:extLst>
              <a:ext uri="{FF2B5EF4-FFF2-40B4-BE49-F238E27FC236}">
                <a16:creationId xmlns:a16="http://schemas.microsoft.com/office/drawing/2014/main" id="{711F444B-54F7-33E0-B2E4-3916DA8A5ED4}"/>
              </a:ext>
            </a:extLst>
          </p:cNvPr>
          <p:cNvSpPr>
            <a:spLocks noGrp="1"/>
          </p:cNvSpPr>
          <p:nvPr>
            <p:ph type="ftr" sz="quarter" idx="11"/>
          </p:nvPr>
        </p:nvSpPr>
        <p:spPr/>
        <p:txBody>
          <a:bodyPr/>
          <a:lstStyle/>
          <a:p>
            <a:r>
              <a:rPr lang="en-US"/>
              <a:t>Final Year Design Project</a:t>
            </a:r>
            <a:endParaRPr lang="en-US" dirty="0"/>
          </a:p>
        </p:txBody>
      </p:sp>
      <p:sp>
        <p:nvSpPr>
          <p:cNvPr id="3" name="Date Placeholder 2">
            <a:extLst>
              <a:ext uri="{FF2B5EF4-FFF2-40B4-BE49-F238E27FC236}">
                <a16:creationId xmlns:a16="http://schemas.microsoft.com/office/drawing/2014/main" id="{6D4E0E35-51B2-F110-1FC5-56525E4FC6CD}"/>
              </a:ext>
            </a:extLst>
          </p:cNvPr>
          <p:cNvSpPr>
            <a:spLocks noGrp="1"/>
          </p:cNvSpPr>
          <p:nvPr>
            <p:ph type="dt" sz="half" idx="10"/>
          </p:nvPr>
        </p:nvSpPr>
        <p:spPr/>
        <p:txBody>
          <a:bodyPr/>
          <a:lstStyle/>
          <a:p>
            <a:fld id="{B514AFB4-126E-4618-BE14-7448A324A28C}" type="datetime2">
              <a:rPr lang="en-US" smtClean="0"/>
              <a:t>Wednesday, May 20, 2026</a:t>
            </a:fld>
            <a:endParaRPr lang="en-US" dirty="0"/>
          </a:p>
        </p:txBody>
      </p:sp>
      <p:sp>
        <p:nvSpPr>
          <p:cNvPr id="6" name="TextBox 5">
            <a:extLst>
              <a:ext uri="{FF2B5EF4-FFF2-40B4-BE49-F238E27FC236}">
                <a16:creationId xmlns:a16="http://schemas.microsoft.com/office/drawing/2014/main" id="{16B0AF0A-0F3E-A3DD-8528-D40ACF8F83D3}"/>
              </a:ext>
            </a:extLst>
          </p:cNvPr>
          <p:cNvSpPr txBox="1"/>
          <p:nvPr/>
        </p:nvSpPr>
        <p:spPr>
          <a:xfrm>
            <a:off x="1315329" y="1358742"/>
            <a:ext cx="9561341" cy="3785652"/>
          </a:xfrm>
          <a:prstGeom prst="rect">
            <a:avLst/>
          </a:prstGeom>
          <a:noFill/>
        </p:spPr>
        <p:txBody>
          <a:bodyPr wrap="square">
            <a:spAutoFit/>
          </a:bodyPr>
          <a:lstStyle/>
          <a:p>
            <a:r>
              <a:rPr lang="en-GB" sz="3000" dirty="0">
                <a:latin typeface="Times New Roman" panose="02020603050405020304" pitchFamily="18" charset="0"/>
                <a:cs typeface="Times New Roman" panose="02020603050405020304" pitchFamily="18" charset="0"/>
              </a:rPr>
              <a:t>The Smart Chromatic Sorting System using PLC Automation provides an efficient and reliable solution for automatic </a:t>
            </a:r>
            <a:r>
              <a:rPr lang="en-GB" sz="3000" dirty="0" err="1">
                <a:latin typeface="Times New Roman" panose="02020603050405020304" pitchFamily="18" charset="0"/>
                <a:cs typeface="Times New Roman" panose="02020603050405020304" pitchFamily="18" charset="0"/>
              </a:rPr>
              <a:t>color</a:t>
            </a:r>
            <a:r>
              <a:rPr lang="en-GB" sz="3000" dirty="0">
                <a:latin typeface="Times New Roman" panose="02020603050405020304" pitchFamily="18" charset="0"/>
                <a:cs typeface="Times New Roman" panose="02020603050405020304" pitchFamily="18" charset="0"/>
              </a:rPr>
              <a:t>-based object sorting. By integrating a mobile camera, image processing, PLC control, conveyor belt, and robotic arm, the system achieves accurate real-time sorting with reduced human effort. The project improves industrial efficiency, accuracy, and automation, making it suitable for modern smart manufacturing applications.</a:t>
            </a: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9546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924FD-9A63-583D-122D-61E739B505B8}"/>
            </a:ext>
          </a:extLst>
        </p:cNvPr>
        <p:cNvGrpSpPr/>
        <p:nvPr/>
      </p:nvGrpSpPr>
      <p:grpSpPr>
        <a:xfrm>
          <a:off x="0" y="0"/>
          <a:ext cx="0" cy="0"/>
          <a:chOff x="0" y="0"/>
          <a:chExt cx="0" cy="0"/>
        </a:xfrm>
      </p:grpSpPr>
      <p:pic>
        <p:nvPicPr>
          <p:cNvPr id="2" name="Picture 6" descr="University of Chakwal">
            <a:extLst>
              <a:ext uri="{FF2B5EF4-FFF2-40B4-BE49-F238E27FC236}">
                <a16:creationId xmlns:a16="http://schemas.microsoft.com/office/drawing/2014/main" id="{D49E0248-62B0-FA73-90B9-9196B1DF636A}"/>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86590" y="381673"/>
            <a:ext cx="6022703" cy="5104731"/>
          </a:xfrm>
          <a:prstGeom prst="rect">
            <a:avLst/>
          </a:prstGeom>
          <a:noFill/>
          <a:ln>
            <a:noFill/>
          </a:ln>
          <a:effectLst/>
          <a:scene3d>
            <a:camera prst="orthographicFront">
              <a:rot lat="0" lon="0" rev="0"/>
            </a:camera>
            <a:lightRig rig="chilly" dir="t">
              <a:rot lat="0" lon="0" rev="18480000"/>
            </a:lightRig>
          </a:scene3d>
          <a:sp3d prstMaterial="clear">
            <a:bevelT h="63500"/>
          </a:sp3d>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80B39DA4-B1E1-99CF-F9CD-9D49BF854911}"/>
              </a:ext>
            </a:extLst>
          </p:cNvPr>
          <p:cNvSpPr>
            <a:spLocks noGrp="1"/>
          </p:cNvSpPr>
          <p:nvPr>
            <p:ph type="title"/>
          </p:nvPr>
        </p:nvSpPr>
        <p:spPr>
          <a:xfrm>
            <a:off x="1172308" y="129746"/>
            <a:ext cx="7036498" cy="1123492"/>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Future Work</a:t>
            </a:r>
          </a:p>
        </p:txBody>
      </p:sp>
      <p:sp>
        <p:nvSpPr>
          <p:cNvPr id="10" name="Footer Placeholder 9">
            <a:extLst>
              <a:ext uri="{FF2B5EF4-FFF2-40B4-BE49-F238E27FC236}">
                <a16:creationId xmlns:a16="http://schemas.microsoft.com/office/drawing/2014/main" id="{207F71F9-8801-28C5-5F66-9659F31DD05A}"/>
              </a:ext>
            </a:extLst>
          </p:cNvPr>
          <p:cNvSpPr>
            <a:spLocks noGrp="1"/>
          </p:cNvSpPr>
          <p:nvPr>
            <p:ph type="ftr" sz="quarter" idx="11"/>
          </p:nvPr>
        </p:nvSpPr>
        <p:spPr/>
        <p:txBody>
          <a:bodyPr/>
          <a:lstStyle/>
          <a:p>
            <a:r>
              <a:rPr lang="en-US"/>
              <a:t>Final Year Design Project</a:t>
            </a:r>
            <a:endParaRPr lang="en-US" dirty="0"/>
          </a:p>
        </p:txBody>
      </p:sp>
      <p:sp>
        <p:nvSpPr>
          <p:cNvPr id="3" name="Date Placeholder 2">
            <a:extLst>
              <a:ext uri="{FF2B5EF4-FFF2-40B4-BE49-F238E27FC236}">
                <a16:creationId xmlns:a16="http://schemas.microsoft.com/office/drawing/2014/main" id="{1A509982-AC67-D285-82F4-26BFF560317A}"/>
              </a:ext>
            </a:extLst>
          </p:cNvPr>
          <p:cNvSpPr>
            <a:spLocks noGrp="1"/>
          </p:cNvSpPr>
          <p:nvPr>
            <p:ph type="dt" sz="half" idx="10"/>
          </p:nvPr>
        </p:nvSpPr>
        <p:spPr/>
        <p:txBody>
          <a:bodyPr/>
          <a:lstStyle/>
          <a:p>
            <a:fld id="{B514AFB4-126E-4618-BE14-7448A324A28C}" type="datetime2">
              <a:rPr lang="en-US" smtClean="0"/>
              <a:t>Wednesday, May 20, 2026</a:t>
            </a:fld>
            <a:endParaRPr lang="en-US" dirty="0"/>
          </a:p>
        </p:txBody>
      </p:sp>
      <p:sp>
        <p:nvSpPr>
          <p:cNvPr id="7" name="TextBox 6">
            <a:extLst>
              <a:ext uri="{FF2B5EF4-FFF2-40B4-BE49-F238E27FC236}">
                <a16:creationId xmlns:a16="http://schemas.microsoft.com/office/drawing/2014/main" id="{45A6F3B5-7A7F-1FA9-8803-3064D9DB8FDC}"/>
              </a:ext>
            </a:extLst>
          </p:cNvPr>
          <p:cNvSpPr txBox="1"/>
          <p:nvPr/>
        </p:nvSpPr>
        <p:spPr>
          <a:xfrm>
            <a:off x="940438" y="1117903"/>
            <a:ext cx="10311124" cy="5016758"/>
          </a:xfrm>
          <a:prstGeom prst="rect">
            <a:avLst/>
          </a:prstGeom>
          <a:noFill/>
        </p:spPr>
        <p:txBody>
          <a:bodyPr wrap="square">
            <a:spAutoFit/>
          </a:bodyPr>
          <a:lstStyle/>
          <a:p>
            <a:r>
              <a:rPr lang="en-GB" sz="3200" dirty="0">
                <a:latin typeface="Times New Roman" panose="02020603050405020304" pitchFamily="18" charset="0"/>
                <a:cs typeface="Times New Roman" panose="02020603050405020304" pitchFamily="18" charset="0"/>
              </a:rPr>
              <a:t>The future scope of this project includes the integration of Artificial Intelligence (AI), Machine Learning, </a:t>
            </a:r>
            <a:r>
              <a:rPr lang="en-GB" sz="3200" dirty="0" err="1">
                <a:latin typeface="Times New Roman" panose="02020603050405020304" pitchFamily="18" charset="0"/>
                <a:cs typeface="Times New Roman" panose="02020603050405020304" pitchFamily="18" charset="0"/>
              </a:rPr>
              <a:t>IoT</a:t>
            </a:r>
            <a:r>
              <a:rPr lang="en-GB" sz="3200" dirty="0">
                <a:latin typeface="Times New Roman" panose="02020603050405020304" pitchFamily="18" charset="0"/>
                <a:cs typeface="Times New Roman" panose="02020603050405020304" pitchFamily="18" charset="0"/>
              </a:rPr>
              <a:t>, and SCADA systems to enhance automation and sorting accuracy. In future, the system can be upgraded to detect object shape, size, and material using advanced computer vision techniques. The project can also be implemented in large-scale industries with faster conveyor systems and more efficient robotic arms. Remote monitoring, cloud-based analytics, and smart manufacturing technologies can further improve industrial productivity and system performance.</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8315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University of Chakwal"/>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86590" y="381673"/>
            <a:ext cx="6022703" cy="5104731"/>
          </a:xfrm>
          <a:prstGeom prst="rect">
            <a:avLst/>
          </a:prstGeom>
          <a:noFill/>
          <a:ln>
            <a:noFill/>
          </a:ln>
          <a:effectLst/>
          <a:scene3d>
            <a:camera prst="orthographicFront">
              <a:rot lat="0" lon="0" rev="0"/>
            </a:camera>
            <a:lightRig rig="chilly" dir="t">
              <a:rot lat="0" lon="0" rev="18480000"/>
            </a:lightRig>
          </a:scene3d>
          <a:sp3d prstMaterial="clear">
            <a:bevelT h="63500"/>
          </a:sp3d>
          <a:extLst>
            <a:ext uri="{909E8E84-426E-40DD-AFC4-6F175D3DCCD1}">
              <a14:hiddenFill xmlns:a14="http://schemas.microsoft.com/office/drawing/2010/main">
                <a:solidFill>
                  <a:srgbClr val="FFFFFF"/>
                </a:solidFill>
              </a14:hiddenFill>
            </a:ext>
          </a:extLst>
        </p:spPr>
      </p:pic>
      <p:pic>
        <p:nvPicPr>
          <p:cNvPr id="1026" name="Picture 2" descr="0914 Thank You Note With Blue Pen On White Background Stock Photo |  PowerPoint Templates Download | PPT Background Template | Graphics  Presenta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p:cNvSpPr>
            <a:spLocks noGrp="1"/>
          </p:cNvSpPr>
          <p:nvPr>
            <p:ph type="ftr" sz="quarter" idx="11"/>
          </p:nvPr>
        </p:nvSpPr>
        <p:spPr/>
        <p:txBody>
          <a:bodyPr/>
          <a:lstStyle/>
          <a:p>
            <a:r>
              <a:rPr lang="en-US"/>
              <a:t>Final Year Design Project</a:t>
            </a:r>
            <a:endParaRPr lang="en-US" dirty="0"/>
          </a:p>
        </p:txBody>
      </p:sp>
      <p:sp>
        <p:nvSpPr>
          <p:cNvPr id="3" name="Date Placeholder 2">
            <a:extLst>
              <a:ext uri="{FF2B5EF4-FFF2-40B4-BE49-F238E27FC236}">
                <a16:creationId xmlns:a16="http://schemas.microsoft.com/office/drawing/2014/main" id="{CAEC90DC-5B61-42B4-89AF-E1F4235061C1}"/>
              </a:ext>
            </a:extLst>
          </p:cNvPr>
          <p:cNvSpPr>
            <a:spLocks noGrp="1"/>
          </p:cNvSpPr>
          <p:nvPr>
            <p:ph type="dt" sz="half" idx="10"/>
          </p:nvPr>
        </p:nvSpPr>
        <p:spPr/>
        <p:txBody>
          <a:bodyPr/>
          <a:lstStyle/>
          <a:p>
            <a:fld id="{BD0D0193-8F0D-4B2A-8832-8B38B24FE6EA}" type="datetime2">
              <a:rPr lang="en-US" smtClean="0"/>
              <a:t>Wednesday, May 20, 2026</a:t>
            </a:fld>
            <a:endParaRPr lang="en-US" dirty="0"/>
          </a:p>
        </p:txBody>
      </p:sp>
    </p:spTree>
    <p:extLst>
      <p:ext uri="{BB962C8B-B14F-4D97-AF65-F5344CB8AC3E}">
        <p14:creationId xmlns:p14="http://schemas.microsoft.com/office/powerpoint/2010/main" val="4135176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9144</TotalTime>
  <Words>805</Words>
  <Application>Microsoft Office PowerPoint</Application>
  <PresentationFormat>Widescreen</PresentationFormat>
  <Paragraphs>214</Paragraphs>
  <Slides>18</Slides>
  <Notes>15</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Smart chromatic sorting system using PLC automation </vt:lpstr>
      <vt:lpstr>PowerPoint Presentation</vt:lpstr>
      <vt:lpstr>PowerPoint Presentation</vt:lpstr>
      <vt:lpstr>Project Objectives</vt:lpstr>
      <vt:lpstr>Flow Chat</vt:lpstr>
      <vt:lpstr>Working Principle</vt:lpstr>
      <vt:lpstr>Hardware Selection &amp; Assembly</vt:lpstr>
      <vt:lpstr>Implementation And Testing</vt:lpstr>
      <vt:lpstr>Block Diagram</vt:lpstr>
      <vt:lpstr>Real time value</vt:lpstr>
      <vt:lpstr>Software Architecture</vt:lpstr>
      <vt:lpstr>Project Integration</vt:lpstr>
      <vt:lpstr>Challenges and Solutions</vt:lpstr>
      <vt:lpstr>Experimental Testing and Results</vt:lpstr>
      <vt:lpstr>Applications of the Project</vt:lpstr>
      <vt:lpstr>Conclusion</vt:lpstr>
      <vt:lpstr>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REPID PROTOTYPING</dc:title>
  <dc:creator>Windows User</dc:creator>
  <cp:lastModifiedBy>Samat Zahra</cp:lastModifiedBy>
  <cp:revision>250</cp:revision>
  <dcterms:created xsi:type="dcterms:W3CDTF">2022-12-10T09:43:09Z</dcterms:created>
  <dcterms:modified xsi:type="dcterms:W3CDTF">2026-05-20T05:16:59Z</dcterms:modified>
</cp:coreProperties>
</file>