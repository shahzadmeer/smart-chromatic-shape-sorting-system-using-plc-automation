
<file path=[Content_Types].xml><?xml version="1.0" encoding="utf-8"?>
<Types xmlns="http://schemas.openxmlformats.org/package/2006/content-types">
  <Default Extension="jfif" ContentType="image/jpeg"/>
  <Default Extension="png" ContentType="image/png"/>
  <Default Extension="jpeg" ContentType="image/jpeg"/>
  <Default Extension="rels" ContentType="application/vnd.openxmlformats-package.relationships+xml"/>
  <Default Extension="xml" ContentType="application/xml"/>
  <Default Extension="jpg" ContentType="image/jpeg"/>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1" r:id="rId4"/>
    <p:sldId id="270" r:id="rId5"/>
    <p:sldId id="258" r:id="rId6"/>
    <p:sldId id="266" r:id="rId7"/>
    <p:sldId id="259" r:id="rId8"/>
    <p:sldId id="260" r:id="rId9"/>
    <p:sldId id="262" r:id="rId10"/>
    <p:sldId id="263" r:id="rId11"/>
    <p:sldId id="267" r:id="rId12"/>
    <p:sldId id="268" r:id="rId13"/>
    <p:sldId id="269" r:id="rId14"/>
    <p:sldId id="264" r:id="rId15"/>
    <p:sldId id="265"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74" autoAdjust="0"/>
    <p:restoredTop sz="94291" autoAdjust="0"/>
  </p:normalViewPr>
  <p:slideViewPr>
    <p:cSldViewPr snapToGrid="0">
      <p:cViewPr varScale="1">
        <p:scale>
          <a:sx n="70" d="100"/>
          <a:sy n="70" d="100"/>
        </p:scale>
        <p:origin x="73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54650D-6745-40F3-8098-54AC3F5E6DC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AD8ACAAB-E5AC-4F38-B2A7-6EB39362CD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6ECE5997-EF23-49BD-B795-CAAFFBDD7019}"/>
              </a:ext>
            </a:extLst>
          </p:cNvPr>
          <p:cNvSpPr>
            <a:spLocks noGrp="1"/>
          </p:cNvSpPr>
          <p:nvPr>
            <p:ph type="dt" sz="half" idx="10"/>
          </p:nvPr>
        </p:nvSpPr>
        <p:spPr/>
        <p:txBody>
          <a:bodyPr/>
          <a:lstStyle/>
          <a:p>
            <a:fld id="{9CE44587-1CDE-425D-9720-11E521C11F42}" type="datetimeFigureOut">
              <a:rPr lang="en-US" smtClean="0"/>
              <a:t>1/20/2026</a:t>
            </a:fld>
            <a:endParaRPr lang="en-US"/>
          </a:p>
        </p:txBody>
      </p:sp>
      <p:sp>
        <p:nvSpPr>
          <p:cNvPr id="5" name="Footer Placeholder 4">
            <a:extLst>
              <a:ext uri="{FF2B5EF4-FFF2-40B4-BE49-F238E27FC236}">
                <a16:creationId xmlns:a16="http://schemas.microsoft.com/office/drawing/2014/main" xmlns="" id="{6AE3464D-2EA1-4FE3-9D1A-B6A00534D5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F9DD5E21-C908-4684-B151-7A52F0034A82}"/>
              </a:ext>
            </a:extLst>
          </p:cNvPr>
          <p:cNvSpPr>
            <a:spLocks noGrp="1"/>
          </p:cNvSpPr>
          <p:nvPr>
            <p:ph type="sldNum" sz="quarter" idx="12"/>
          </p:nvPr>
        </p:nvSpPr>
        <p:spPr/>
        <p:txBody>
          <a:bodyPr/>
          <a:lstStyle/>
          <a:p>
            <a:fld id="{4CF08758-B44C-41EB-A26C-3FBCAEA56560}" type="slidenum">
              <a:rPr lang="en-US" smtClean="0"/>
              <a:t>‹#›</a:t>
            </a:fld>
            <a:endParaRPr lang="en-US"/>
          </a:p>
        </p:txBody>
      </p:sp>
    </p:spTree>
    <p:extLst>
      <p:ext uri="{BB962C8B-B14F-4D97-AF65-F5344CB8AC3E}">
        <p14:creationId xmlns:p14="http://schemas.microsoft.com/office/powerpoint/2010/main" val="3967920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3D24222-87D5-4586-95D8-DC697810DE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CDE9B9F5-D513-4888-A9CB-E4F98AEEE8B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6541ADBC-5139-4870-95A2-7EF32B6C2BB5}"/>
              </a:ext>
            </a:extLst>
          </p:cNvPr>
          <p:cNvSpPr>
            <a:spLocks noGrp="1"/>
          </p:cNvSpPr>
          <p:nvPr>
            <p:ph type="dt" sz="half" idx="10"/>
          </p:nvPr>
        </p:nvSpPr>
        <p:spPr/>
        <p:txBody>
          <a:bodyPr/>
          <a:lstStyle/>
          <a:p>
            <a:fld id="{9CE44587-1CDE-425D-9720-11E521C11F42}" type="datetimeFigureOut">
              <a:rPr lang="en-US" smtClean="0"/>
              <a:t>1/20/2026</a:t>
            </a:fld>
            <a:endParaRPr lang="en-US"/>
          </a:p>
        </p:txBody>
      </p:sp>
      <p:sp>
        <p:nvSpPr>
          <p:cNvPr id="5" name="Footer Placeholder 4">
            <a:extLst>
              <a:ext uri="{FF2B5EF4-FFF2-40B4-BE49-F238E27FC236}">
                <a16:creationId xmlns:a16="http://schemas.microsoft.com/office/drawing/2014/main" xmlns="" id="{5222D416-FEA8-49D1-9581-B6E68AF226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1917248C-026B-4252-BE40-E1C8FAA0E617}"/>
              </a:ext>
            </a:extLst>
          </p:cNvPr>
          <p:cNvSpPr>
            <a:spLocks noGrp="1"/>
          </p:cNvSpPr>
          <p:nvPr>
            <p:ph type="sldNum" sz="quarter" idx="12"/>
          </p:nvPr>
        </p:nvSpPr>
        <p:spPr/>
        <p:txBody>
          <a:bodyPr/>
          <a:lstStyle/>
          <a:p>
            <a:fld id="{4CF08758-B44C-41EB-A26C-3FBCAEA56560}" type="slidenum">
              <a:rPr lang="en-US" smtClean="0"/>
              <a:t>‹#›</a:t>
            </a:fld>
            <a:endParaRPr lang="en-US"/>
          </a:p>
        </p:txBody>
      </p:sp>
    </p:spTree>
    <p:extLst>
      <p:ext uri="{BB962C8B-B14F-4D97-AF65-F5344CB8AC3E}">
        <p14:creationId xmlns:p14="http://schemas.microsoft.com/office/powerpoint/2010/main" val="31905962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A52457-015C-4219-AAC2-EE7D20BF236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2F5A8B55-4161-4F53-A01C-1F3AED0F6A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xmlns="" id="{10280F42-C5D5-462D-8D1E-251AF6C2BCA4}"/>
              </a:ext>
            </a:extLst>
          </p:cNvPr>
          <p:cNvSpPr>
            <a:spLocks noGrp="1"/>
          </p:cNvSpPr>
          <p:nvPr>
            <p:ph type="dt" sz="half" idx="10"/>
          </p:nvPr>
        </p:nvSpPr>
        <p:spPr/>
        <p:txBody>
          <a:bodyPr/>
          <a:lstStyle/>
          <a:p>
            <a:fld id="{9CE44587-1CDE-425D-9720-11E521C11F42}" type="datetimeFigureOut">
              <a:rPr lang="en-US" smtClean="0"/>
              <a:t>1/20/2026</a:t>
            </a:fld>
            <a:endParaRPr lang="en-US"/>
          </a:p>
        </p:txBody>
      </p:sp>
      <p:sp>
        <p:nvSpPr>
          <p:cNvPr id="5" name="Footer Placeholder 4">
            <a:extLst>
              <a:ext uri="{FF2B5EF4-FFF2-40B4-BE49-F238E27FC236}">
                <a16:creationId xmlns:a16="http://schemas.microsoft.com/office/drawing/2014/main" xmlns="" id="{5709490C-B22D-46B9-9436-74C2BE3715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73801A70-F496-483D-B962-BD944D77D671}"/>
              </a:ext>
            </a:extLst>
          </p:cNvPr>
          <p:cNvSpPr>
            <a:spLocks noGrp="1"/>
          </p:cNvSpPr>
          <p:nvPr>
            <p:ph type="sldNum" sz="quarter" idx="12"/>
          </p:nvPr>
        </p:nvSpPr>
        <p:spPr/>
        <p:txBody>
          <a:bodyPr/>
          <a:lstStyle/>
          <a:p>
            <a:fld id="{4CF08758-B44C-41EB-A26C-3FBCAEA56560}" type="slidenum">
              <a:rPr lang="en-US" smtClean="0"/>
              <a:t>‹#›</a:t>
            </a:fld>
            <a:endParaRPr lang="en-US"/>
          </a:p>
        </p:txBody>
      </p:sp>
    </p:spTree>
    <p:extLst>
      <p:ext uri="{BB962C8B-B14F-4D97-AF65-F5344CB8AC3E}">
        <p14:creationId xmlns:p14="http://schemas.microsoft.com/office/powerpoint/2010/main" val="36192751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EB77DED-BD51-489D-BA3F-F2C1BAC768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5970819A-4C1E-4FB6-97F2-F7A240D6850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73B07009-E0D6-4033-A12D-85CFF638F68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DC01A467-CF68-42BE-BF57-A5EA6B7156CC}"/>
              </a:ext>
            </a:extLst>
          </p:cNvPr>
          <p:cNvSpPr>
            <a:spLocks noGrp="1"/>
          </p:cNvSpPr>
          <p:nvPr>
            <p:ph type="dt" sz="half" idx="10"/>
          </p:nvPr>
        </p:nvSpPr>
        <p:spPr/>
        <p:txBody>
          <a:bodyPr/>
          <a:lstStyle/>
          <a:p>
            <a:fld id="{9CE44587-1CDE-425D-9720-11E521C11F42}" type="datetimeFigureOut">
              <a:rPr lang="en-US" smtClean="0"/>
              <a:t>1/20/2026</a:t>
            </a:fld>
            <a:endParaRPr lang="en-US"/>
          </a:p>
        </p:txBody>
      </p:sp>
      <p:sp>
        <p:nvSpPr>
          <p:cNvPr id="6" name="Footer Placeholder 5">
            <a:extLst>
              <a:ext uri="{FF2B5EF4-FFF2-40B4-BE49-F238E27FC236}">
                <a16:creationId xmlns:a16="http://schemas.microsoft.com/office/drawing/2014/main" xmlns="" id="{B7CE3549-DFCD-4C5A-92DD-13D05B00AD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9D65EBBE-195E-461F-A65C-9ECAB3B6B463}"/>
              </a:ext>
            </a:extLst>
          </p:cNvPr>
          <p:cNvSpPr>
            <a:spLocks noGrp="1"/>
          </p:cNvSpPr>
          <p:nvPr>
            <p:ph type="sldNum" sz="quarter" idx="12"/>
          </p:nvPr>
        </p:nvSpPr>
        <p:spPr/>
        <p:txBody>
          <a:bodyPr/>
          <a:lstStyle/>
          <a:p>
            <a:fld id="{4CF08758-B44C-41EB-A26C-3FBCAEA56560}" type="slidenum">
              <a:rPr lang="en-US" smtClean="0"/>
              <a:t>‹#›</a:t>
            </a:fld>
            <a:endParaRPr lang="en-US"/>
          </a:p>
        </p:txBody>
      </p:sp>
    </p:spTree>
    <p:extLst>
      <p:ext uri="{BB962C8B-B14F-4D97-AF65-F5344CB8AC3E}">
        <p14:creationId xmlns:p14="http://schemas.microsoft.com/office/powerpoint/2010/main" val="1476124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0A07E58-036A-4D69-8CDF-3E901609FEF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BA293689-3E02-4EE0-ADC2-9AD62463F5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xmlns="" id="{CF63D877-4244-48F3-A4EF-63AF30FB884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2B991432-DD0A-46B3-AA2E-870BA916A1F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xmlns="" id="{6DEF6C2B-834C-4907-A390-2627A487387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E69F111E-D83F-4F10-800F-C03FB32FBA1C}"/>
              </a:ext>
            </a:extLst>
          </p:cNvPr>
          <p:cNvSpPr>
            <a:spLocks noGrp="1"/>
          </p:cNvSpPr>
          <p:nvPr>
            <p:ph type="dt" sz="half" idx="10"/>
          </p:nvPr>
        </p:nvSpPr>
        <p:spPr/>
        <p:txBody>
          <a:bodyPr/>
          <a:lstStyle/>
          <a:p>
            <a:fld id="{9CE44587-1CDE-425D-9720-11E521C11F42}" type="datetimeFigureOut">
              <a:rPr lang="en-US" smtClean="0"/>
              <a:t>1/20/2026</a:t>
            </a:fld>
            <a:endParaRPr lang="en-US"/>
          </a:p>
        </p:txBody>
      </p:sp>
      <p:sp>
        <p:nvSpPr>
          <p:cNvPr id="8" name="Footer Placeholder 7">
            <a:extLst>
              <a:ext uri="{FF2B5EF4-FFF2-40B4-BE49-F238E27FC236}">
                <a16:creationId xmlns:a16="http://schemas.microsoft.com/office/drawing/2014/main" xmlns="" id="{BBCE9CBB-89FF-4413-916A-6F66378A53D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1317375A-B9C5-4096-A040-3F0D14A31FAC}"/>
              </a:ext>
            </a:extLst>
          </p:cNvPr>
          <p:cNvSpPr>
            <a:spLocks noGrp="1"/>
          </p:cNvSpPr>
          <p:nvPr>
            <p:ph type="sldNum" sz="quarter" idx="12"/>
          </p:nvPr>
        </p:nvSpPr>
        <p:spPr/>
        <p:txBody>
          <a:bodyPr/>
          <a:lstStyle/>
          <a:p>
            <a:fld id="{4CF08758-B44C-41EB-A26C-3FBCAEA56560}" type="slidenum">
              <a:rPr lang="en-US" smtClean="0"/>
              <a:t>‹#›</a:t>
            </a:fld>
            <a:endParaRPr lang="en-US"/>
          </a:p>
        </p:txBody>
      </p:sp>
    </p:spTree>
    <p:extLst>
      <p:ext uri="{BB962C8B-B14F-4D97-AF65-F5344CB8AC3E}">
        <p14:creationId xmlns:p14="http://schemas.microsoft.com/office/powerpoint/2010/main" val="1230288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DCB85F6-A781-4A65-8DF0-E3EF8557DD2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62F099CB-43AD-46DA-BD70-2B8FFE1AB6C3}"/>
              </a:ext>
            </a:extLst>
          </p:cNvPr>
          <p:cNvSpPr>
            <a:spLocks noGrp="1"/>
          </p:cNvSpPr>
          <p:nvPr>
            <p:ph type="dt" sz="half" idx="10"/>
          </p:nvPr>
        </p:nvSpPr>
        <p:spPr/>
        <p:txBody>
          <a:bodyPr/>
          <a:lstStyle/>
          <a:p>
            <a:fld id="{9CE44587-1CDE-425D-9720-11E521C11F42}" type="datetimeFigureOut">
              <a:rPr lang="en-US" smtClean="0"/>
              <a:t>1/20/2026</a:t>
            </a:fld>
            <a:endParaRPr lang="en-US"/>
          </a:p>
        </p:txBody>
      </p:sp>
      <p:sp>
        <p:nvSpPr>
          <p:cNvPr id="4" name="Footer Placeholder 3">
            <a:extLst>
              <a:ext uri="{FF2B5EF4-FFF2-40B4-BE49-F238E27FC236}">
                <a16:creationId xmlns:a16="http://schemas.microsoft.com/office/drawing/2014/main" xmlns="" id="{9BDD0147-BA9A-4FBB-9C05-E3603A72DAA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84034737-8BA9-4924-806F-1DFF1B7737C3}"/>
              </a:ext>
            </a:extLst>
          </p:cNvPr>
          <p:cNvSpPr>
            <a:spLocks noGrp="1"/>
          </p:cNvSpPr>
          <p:nvPr>
            <p:ph type="sldNum" sz="quarter" idx="12"/>
          </p:nvPr>
        </p:nvSpPr>
        <p:spPr/>
        <p:txBody>
          <a:bodyPr/>
          <a:lstStyle/>
          <a:p>
            <a:fld id="{4CF08758-B44C-41EB-A26C-3FBCAEA56560}" type="slidenum">
              <a:rPr lang="en-US" smtClean="0"/>
              <a:t>‹#›</a:t>
            </a:fld>
            <a:endParaRPr lang="en-US"/>
          </a:p>
        </p:txBody>
      </p:sp>
    </p:spTree>
    <p:extLst>
      <p:ext uri="{BB962C8B-B14F-4D97-AF65-F5344CB8AC3E}">
        <p14:creationId xmlns:p14="http://schemas.microsoft.com/office/powerpoint/2010/main" val="2929533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B8B7D4FE-DFF8-4B35-AEE3-87FD9EC32463}"/>
              </a:ext>
            </a:extLst>
          </p:cNvPr>
          <p:cNvSpPr>
            <a:spLocks noGrp="1"/>
          </p:cNvSpPr>
          <p:nvPr>
            <p:ph type="dt" sz="half" idx="10"/>
          </p:nvPr>
        </p:nvSpPr>
        <p:spPr/>
        <p:txBody>
          <a:bodyPr/>
          <a:lstStyle/>
          <a:p>
            <a:fld id="{9CE44587-1CDE-425D-9720-11E521C11F42}" type="datetimeFigureOut">
              <a:rPr lang="en-US" smtClean="0"/>
              <a:t>1/20/2026</a:t>
            </a:fld>
            <a:endParaRPr lang="en-US"/>
          </a:p>
        </p:txBody>
      </p:sp>
      <p:sp>
        <p:nvSpPr>
          <p:cNvPr id="3" name="Footer Placeholder 2">
            <a:extLst>
              <a:ext uri="{FF2B5EF4-FFF2-40B4-BE49-F238E27FC236}">
                <a16:creationId xmlns:a16="http://schemas.microsoft.com/office/drawing/2014/main" xmlns="" id="{D3C97C99-069A-420F-926F-F56EEB37469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2B2B7710-7295-46DE-95A1-23DF8867D81C}"/>
              </a:ext>
            </a:extLst>
          </p:cNvPr>
          <p:cNvSpPr>
            <a:spLocks noGrp="1"/>
          </p:cNvSpPr>
          <p:nvPr>
            <p:ph type="sldNum" sz="quarter" idx="12"/>
          </p:nvPr>
        </p:nvSpPr>
        <p:spPr/>
        <p:txBody>
          <a:bodyPr/>
          <a:lstStyle/>
          <a:p>
            <a:fld id="{4CF08758-B44C-41EB-A26C-3FBCAEA56560}" type="slidenum">
              <a:rPr lang="en-US" smtClean="0"/>
              <a:t>‹#›</a:t>
            </a:fld>
            <a:endParaRPr lang="en-US"/>
          </a:p>
        </p:txBody>
      </p:sp>
    </p:spTree>
    <p:extLst>
      <p:ext uri="{BB962C8B-B14F-4D97-AF65-F5344CB8AC3E}">
        <p14:creationId xmlns:p14="http://schemas.microsoft.com/office/powerpoint/2010/main" val="28339743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F939F75-5D18-420F-9BD2-E9AC545F5D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689C7A3C-2AAD-4C5C-A5B7-97EB982AD4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8A2C618A-83C7-4A1C-95D9-21F15E7BD3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xmlns="" id="{85E3EEF3-7BF3-4A58-985D-F84EC6223A1B}"/>
              </a:ext>
            </a:extLst>
          </p:cNvPr>
          <p:cNvSpPr>
            <a:spLocks noGrp="1"/>
          </p:cNvSpPr>
          <p:nvPr>
            <p:ph type="dt" sz="half" idx="10"/>
          </p:nvPr>
        </p:nvSpPr>
        <p:spPr/>
        <p:txBody>
          <a:bodyPr/>
          <a:lstStyle/>
          <a:p>
            <a:fld id="{9CE44587-1CDE-425D-9720-11E521C11F42}" type="datetimeFigureOut">
              <a:rPr lang="en-US" smtClean="0"/>
              <a:t>1/20/2026</a:t>
            </a:fld>
            <a:endParaRPr lang="en-US"/>
          </a:p>
        </p:txBody>
      </p:sp>
      <p:sp>
        <p:nvSpPr>
          <p:cNvPr id="6" name="Footer Placeholder 5">
            <a:extLst>
              <a:ext uri="{FF2B5EF4-FFF2-40B4-BE49-F238E27FC236}">
                <a16:creationId xmlns:a16="http://schemas.microsoft.com/office/drawing/2014/main" xmlns="" id="{A1C8BC84-3F00-441B-96FD-8C7B73D116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9BDFFDA4-B923-446F-8323-CF2AA73A5994}"/>
              </a:ext>
            </a:extLst>
          </p:cNvPr>
          <p:cNvSpPr>
            <a:spLocks noGrp="1"/>
          </p:cNvSpPr>
          <p:nvPr>
            <p:ph type="sldNum" sz="quarter" idx="12"/>
          </p:nvPr>
        </p:nvSpPr>
        <p:spPr/>
        <p:txBody>
          <a:bodyPr/>
          <a:lstStyle/>
          <a:p>
            <a:fld id="{4CF08758-B44C-41EB-A26C-3FBCAEA56560}" type="slidenum">
              <a:rPr lang="en-US" smtClean="0"/>
              <a:t>‹#›</a:t>
            </a:fld>
            <a:endParaRPr lang="en-US"/>
          </a:p>
        </p:txBody>
      </p:sp>
    </p:spTree>
    <p:extLst>
      <p:ext uri="{BB962C8B-B14F-4D97-AF65-F5344CB8AC3E}">
        <p14:creationId xmlns:p14="http://schemas.microsoft.com/office/powerpoint/2010/main" val="32179061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7C76CF6-C8C2-40B2-A120-98D0D6B65A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BC1FAF4A-E348-4E2B-968C-248060DFDC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1214CE21-6F93-4A3F-BAB7-EAA4FE1760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xmlns="" id="{9D935B2B-8584-4B14-A75B-646A2B1A200D}"/>
              </a:ext>
            </a:extLst>
          </p:cNvPr>
          <p:cNvSpPr>
            <a:spLocks noGrp="1"/>
          </p:cNvSpPr>
          <p:nvPr>
            <p:ph type="dt" sz="half" idx="10"/>
          </p:nvPr>
        </p:nvSpPr>
        <p:spPr/>
        <p:txBody>
          <a:bodyPr/>
          <a:lstStyle/>
          <a:p>
            <a:fld id="{9CE44587-1CDE-425D-9720-11E521C11F42}" type="datetimeFigureOut">
              <a:rPr lang="en-US" smtClean="0"/>
              <a:t>1/20/2026</a:t>
            </a:fld>
            <a:endParaRPr lang="en-US"/>
          </a:p>
        </p:txBody>
      </p:sp>
      <p:sp>
        <p:nvSpPr>
          <p:cNvPr id="6" name="Footer Placeholder 5">
            <a:extLst>
              <a:ext uri="{FF2B5EF4-FFF2-40B4-BE49-F238E27FC236}">
                <a16:creationId xmlns:a16="http://schemas.microsoft.com/office/drawing/2014/main" xmlns="" id="{7C7E2E59-2186-4621-BFDB-86B0831450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2745C8E9-D07E-47B5-9C7A-A049FB1FADB7}"/>
              </a:ext>
            </a:extLst>
          </p:cNvPr>
          <p:cNvSpPr>
            <a:spLocks noGrp="1"/>
          </p:cNvSpPr>
          <p:nvPr>
            <p:ph type="sldNum" sz="quarter" idx="12"/>
          </p:nvPr>
        </p:nvSpPr>
        <p:spPr/>
        <p:txBody>
          <a:bodyPr/>
          <a:lstStyle/>
          <a:p>
            <a:fld id="{4CF08758-B44C-41EB-A26C-3FBCAEA56560}" type="slidenum">
              <a:rPr lang="en-US" smtClean="0"/>
              <a:t>‹#›</a:t>
            </a:fld>
            <a:endParaRPr lang="en-US"/>
          </a:p>
        </p:txBody>
      </p:sp>
    </p:spTree>
    <p:extLst>
      <p:ext uri="{BB962C8B-B14F-4D97-AF65-F5344CB8AC3E}">
        <p14:creationId xmlns:p14="http://schemas.microsoft.com/office/powerpoint/2010/main" val="35522303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4CC0F3D-CA56-44F9-BAC1-33362FBCE05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CB902CB7-CB9B-43B6-B12E-642303DC367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2F1E9751-98DF-4ADE-914E-E6BBE05FEE5F}"/>
              </a:ext>
            </a:extLst>
          </p:cNvPr>
          <p:cNvSpPr>
            <a:spLocks noGrp="1"/>
          </p:cNvSpPr>
          <p:nvPr>
            <p:ph type="dt" sz="half" idx="10"/>
          </p:nvPr>
        </p:nvSpPr>
        <p:spPr/>
        <p:txBody>
          <a:bodyPr/>
          <a:lstStyle/>
          <a:p>
            <a:fld id="{9CE44587-1CDE-425D-9720-11E521C11F42}" type="datetimeFigureOut">
              <a:rPr lang="en-US" smtClean="0"/>
              <a:t>1/20/2026</a:t>
            </a:fld>
            <a:endParaRPr lang="en-US"/>
          </a:p>
        </p:txBody>
      </p:sp>
      <p:sp>
        <p:nvSpPr>
          <p:cNvPr id="5" name="Footer Placeholder 4">
            <a:extLst>
              <a:ext uri="{FF2B5EF4-FFF2-40B4-BE49-F238E27FC236}">
                <a16:creationId xmlns:a16="http://schemas.microsoft.com/office/drawing/2014/main" xmlns="" id="{6B0047D1-465C-4AB7-9460-57F62D848B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BB809778-4E0C-43DB-A4F1-B85FC29F0435}"/>
              </a:ext>
            </a:extLst>
          </p:cNvPr>
          <p:cNvSpPr>
            <a:spLocks noGrp="1"/>
          </p:cNvSpPr>
          <p:nvPr>
            <p:ph type="sldNum" sz="quarter" idx="12"/>
          </p:nvPr>
        </p:nvSpPr>
        <p:spPr/>
        <p:txBody>
          <a:bodyPr/>
          <a:lstStyle/>
          <a:p>
            <a:fld id="{4CF08758-B44C-41EB-A26C-3FBCAEA56560}" type="slidenum">
              <a:rPr lang="en-US" smtClean="0"/>
              <a:t>‹#›</a:t>
            </a:fld>
            <a:endParaRPr lang="en-US"/>
          </a:p>
        </p:txBody>
      </p:sp>
    </p:spTree>
    <p:extLst>
      <p:ext uri="{BB962C8B-B14F-4D97-AF65-F5344CB8AC3E}">
        <p14:creationId xmlns:p14="http://schemas.microsoft.com/office/powerpoint/2010/main" val="478666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AA044542-DFEB-4A29-9D8C-BE6311E921A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B7360245-4198-4862-899D-223D305D199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1EA9A30B-BA75-4FB4-A140-2AA7B8C4A4E4}"/>
              </a:ext>
            </a:extLst>
          </p:cNvPr>
          <p:cNvSpPr>
            <a:spLocks noGrp="1"/>
          </p:cNvSpPr>
          <p:nvPr>
            <p:ph type="dt" sz="half" idx="10"/>
          </p:nvPr>
        </p:nvSpPr>
        <p:spPr/>
        <p:txBody>
          <a:bodyPr/>
          <a:lstStyle/>
          <a:p>
            <a:fld id="{9CE44587-1CDE-425D-9720-11E521C11F42}" type="datetimeFigureOut">
              <a:rPr lang="en-US" smtClean="0"/>
              <a:t>1/20/2026</a:t>
            </a:fld>
            <a:endParaRPr lang="en-US"/>
          </a:p>
        </p:txBody>
      </p:sp>
      <p:sp>
        <p:nvSpPr>
          <p:cNvPr id="5" name="Footer Placeholder 4">
            <a:extLst>
              <a:ext uri="{FF2B5EF4-FFF2-40B4-BE49-F238E27FC236}">
                <a16:creationId xmlns:a16="http://schemas.microsoft.com/office/drawing/2014/main" xmlns="" id="{722E8203-486B-4538-B946-70031D404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BEB03392-DE11-4E05-8428-DC97CD7872DD}"/>
              </a:ext>
            </a:extLst>
          </p:cNvPr>
          <p:cNvSpPr>
            <a:spLocks noGrp="1"/>
          </p:cNvSpPr>
          <p:nvPr>
            <p:ph type="sldNum" sz="quarter" idx="12"/>
          </p:nvPr>
        </p:nvSpPr>
        <p:spPr/>
        <p:txBody>
          <a:bodyPr/>
          <a:lstStyle/>
          <a:p>
            <a:fld id="{4CF08758-B44C-41EB-A26C-3FBCAEA56560}" type="slidenum">
              <a:rPr lang="en-US" smtClean="0"/>
              <a:t>‹#›</a:t>
            </a:fld>
            <a:endParaRPr lang="en-US"/>
          </a:p>
        </p:txBody>
      </p:sp>
    </p:spTree>
    <p:extLst>
      <p:ext uri="{BB962C8B-B14F-4D97-AF65-F5344CB8AC3E}">
        <p14:creationId xmlns:p14="http://schemas.microsoft.com/office/powerpoint/2010/main" val="2049805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E511BDB4-2131-42B0-B2A6-FC955E762C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82B89BE4-8589-4011-A39A-4E47DC06FB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E9F819E8-8287-4DE6-BF64-28B0BD6AA5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E44587-1CDE-425D-9720-11E521C11F42}" type="datetimeFigureOut">
              <a:rPr lang="en-US" smtClean="0"/>
              <a:t>1/20/2026</a:t>
            </a:fld>
            <a:endParaRPr lang="en-US"/>
          </a:p>
        </p:txBody>
      </p:sp>
      <p:sp>
        <p:nvSpPr>
          <p:cNvPr id="5" name="Footer Placeholder 4">
            <a:extLst>
              <a:ext uri="{FF2B5EF4-FFF2-40B4-BE49-F238E27FC236}">
                <a16:creationId xmlns:a16="http://schemas.microsoft.com/office/drawing/2014/main" xmlns="" id="{28B91963-34C8-4D60-B3BE-BC3DCE6FAB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5FE782BD-2829-4E9D-9F8A-2388297D14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F08758-B44C-41EB-A26C-3FBCAEA56560}" type="slidenum">
              <a:rPr lang="en-US" smtClean="0"/>
              <a:t>‹#›</a:t>
            </a:fld>
            <a:endParaRPr lang="en-US"/>
          </a:p>
        </p:txBody>
      </p:sp>
    </p:spTree>
    <p:extLst>
      <p:ext uri="{BB962C8B-B14F-4D97-AF65-F5344CB8AC3E}">
        <p14:creationId xmlns:p14="http://schemas.microsoft.com/office/powerpoint/2010/main" val="41867711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fif"/><Relationship Id="rId7" Type="http://schemas.openxmlformats.org/officeDocument/2006/relationships/image" Target="../media/image6.jpe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jpeg"/><Relationship Id="rId5" Type="http://schemas.openxmlformats.org/officeDocument/2006/relationships/image" Target="../media/image4.jpg"/><Relationship Id="rId10" Type="http://schemas.openxmlformats.org/officeDocument/2006/relationships/image" Target="../media/image9.jpeg"/><Relationship Id="rId4" Type="http://schemas.openxmlformats.org/officeDocument/2006/relationships/image" Target="../media/image3.jfif"/><Relationship Id="rId9" Type="http://schemas.openxmlformats.org/officeDocument/2006/relationships/image" Target="../media/image8.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mdpi.com/2673-4052/5/3/18%202"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ACB4BAF-E1B6-4749-8EC9-0640CE563BD2}"/>
              </a:ext>
            </a:extLst>
          </p:cNvPr>
          <p:cNvSpPr>
            <a:spLocks noGrp="1"/>
          </p:cNvSpPr>
          <p:nvPr>
            <p:ph type="ctrTitle"/>
          </p:nvPr>
        </p:nvSpPr>
        <p:spPr>
          <a:xfrm>
            <a:off x="1524000" y="1122363"/>
            <a:ext cx="9144000" cy="1382298"/>
          </a:xfrm>
        </p:spPr>
        <p:txBody>
          <a:bodyPr>
            <a:normAutofit/>
          </a:bodyPr>
          <a:lstStyle/>
          <a:p>
            <a:r>
              <a:rPr lang="en-US" sz="4000" b="1" dirty="0">
                <a:latin typeface="Calibri" panose="020F0502020204030204" pitchFamily="34" charset="0"/>
                <a:cs typeface="Calibri" panose="020F0502020204030204" pitchFamily="34" charset="0"/>
              </a:rPr>
              <a:t>Smart Chromatic Sorting System Using PLC Automation</a:t>
            </a:r>
            <a:endParaRPr lang="en-US" sz="4000" dirty="0"/>
          </a:p>
        </p:txBody>
      </p:sp>
      <p:sp>
        <p:nvSpPr>
          <p:cNvPr id="3" name="Subtitle 2">
            <a:extLst>
              <a:ext uri="{FF2B5EF4-FFF2-40B4-BE49-F238E27FC236}">
                <a16:creationId xmlns:a16="http://schemas.microsoft.com/office/drawing/2014/main" xmlns="" id="{5B1C9AA3-5BB6-414A-87F6-565BA5066D4C}"/>
              </a:ext>
            </a:extLst>
          </p:cNvPr>
          <p:cNvSpPr>
            <a:spLocks noGrp="1"/>
          </p:cNvSpPr>
          <p:nvPr>
            <p:ph type="subTitle" idx="1"/>
          </p:nvPr>
        </p:nvSpPr>
        <p:spPr>
          <a:xfrm>
            <a:off x="1524000" y="2915477"/>
            <a:ext cx="9144000" cy="2981739"/>
          </a:xfrm>
        </p:spPr>
        <p:txBody>
          <a:bodyPr>
            <a:normAutofit fontScale="92500" lnSpcReduction="10000"/>
          </a:bodyPr>
          <a:lstStyle/>
          <a:p>
            <a:r>
              <a:rPr lang="en-US" sz="3200" b="1" dirty="0">
                <a:latin typeface="Times New Roman" panose="02020603050405020304" pitchFamily="18" charset="0"/>
                <a:cs typeface="Times New Roman" panose="02020603050405020304" pitchFamily="18" charset="0"/>
              </a:rPr>
              <a:t>Presented by</a:t>
            </a:r>
          </a:p>
          <a:p>
            <a:pPr>
              <a:lnSpc>
                <a:spcPct val="120000"/>
              </a:lnSpc>
            </a:pPr>
            <a:r>
              <a:rPr lang="en-US" dirty="0">
                <a:latin typeface="Times New Roman" panose="02020603050405020304" pitchFamily="18" charset="0"/>
                <a:cs typeface="Times New Roman" panose="02020603050405020304" pitchFamily="18" charset="0"/>
              </a:rPr>
              <a:t>Shahzad Meer BSMTEF2022M042</a:t>
            </a:r>
          </a:p>
          <a:p>
            <a:pPr>
              <a:lnSpc>
                <a:spcPct val="120000"/>
              </a:lnSpc>
            </a:pPr>
            <a:r>
              <a:rPr lang="en-US" dirty="0" err="1">
                <a:latin typeface="Times New Roman" panose="02020603050405020304" pitchFamily="18" charset="0"/>
                <a:cs typeface="Times New Roman" panose="02020603050405020304" pitchFamily="18" charset="0"/>
              </a:rPr>
              <a:t>Mutee</a:t>
            </a:r>
            <a:r>
              <a:rPr lang="en-US" dirty="0">
                <a:latin typeface="Times New Roman" panose="02020603050405020304" pitchFamily="18" charset="0"/>
                <a:cs typeface="Times New Roman" panose="02020603050405020304" pitchFamily="18" charset="0"/>
              </a:rPr>
              <a:t> Ur Rehman BSMTEF2022M028</a:t>
            </a:r>
          </a:p>
          <a:p>
            <a:pPr>
              <a:lnSpc>
                <a:spcPct val="120000"/>
              </a:lnSpc>
            </a:pPr>
            <a:r>
              <a:rPr lang="en-US" dirty="0" err="1">
                <a:latin typeface="Times New Roman" panose="02020603050405020304" pitchFamily="18" charset="0"/>
                <a:cs typeface="Times New Roman" panose="02020603050405020304" pitchFamily="18" charset="0"/>
              </a:rPr>
              <a:t>Fareeha</a:t>
            </a:r>
            <a:r>
              <a:rPr lang="en-US" dirty="0">
                <a:latin typeface="Times New Roman" panose="02020603050405020304" pitchFamily="18" charset="0"/>
                <a:cs typeface="Times New Roman" panose="02020603050405020304" pitchFamily="18" charset="0"/>
              </a:rPr>
              <a:t> BSMTEF2022M037</a:t>
            </a:r>
          </a:p>
          <a:p>
            <a:pPr>
              <a:lnSpc>
                <a:spcPct val="120000"/>
              </a:lnSpc>
            </a:pPr>
            <a:r>
              <a:rPr lang="en-US" dirty="0" err="1">
                <a:latin typeface="Times New Roman" panose="02020603050405020304" pitchFamily="18" charset="0"/>
                <a:cs typeface="Times New Roman" panose="02020603050405020304" pitchFamily="18" charset="0"/>
              </a:rPr>
              <a:t>Samat</a:t>
            </a:r>
            <a:r>
              <a:rPr lang="en-US" dirty="0">
                <a:latin typeface="Times New Roman" panose="02020603050405020304" pitchFamily="18" charset="0"/>
                <a:cs typeface="Times New Roman" panose="02020603050405020304" pitchFamily="18" charset="0"/>
              </a:rPr>
              <a:t> Zahra BSMTEF2022M024</a:t>
            </a:r>
          </a:p>
          <a:p>
            <a:pPr>
              <a:lnSpc>
                <a:spcPct val="120000"/>
              </a:lnSpc>
            </a:pPr>
            <a:r>
              <a:rPr lang="en-US" b="1" dirty="0" smtClean="0"/>
              <a:t>Supervisor: Engr. </a:t>
            </a:r>
            <a:r>
              <a:rPr lang="en-US" b="1" dirty="0" err="1" smtClean="0"/>
              <a:t>Arqum</a:t>
            </a:r>
            <a:r>
              <a:rPr lang="en-US" b="1" dirty="0" smtClean="0"/>
              <a:t> </a:t>
            </a:r>
            <a:r>
              <a:rPr lang="en-US" b="1" dirty="0"/>
              <a:t>Razzaq</a:t>
            </a:r>
          </a:p>
          <a:p>
            <a:endParaRPr lang="en-US" dirty="0"/>
          </a:p>
        </p:txBody>
      </p:sp>
    </p:spTree>
    <p:extLst>
      <p:ext uri="{BB962C8B-B14F-4D97-AF65-F5344CB8AC3E}">
        <p14:creationId xmlns:p14="http://schemas.microsoft.com/office/powerpoint/2010/main" val="24276078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9048FE7-4DED-4381-B924-155F35EAAF72}"/>
              </a:ext>
            </a:extLst>
          </p:cNvPr>
          <p:cNvSpPr>
            <a:spLocks noGrp="1"/>
          </p:cNvSpPr>
          <p:nvPr>
            <p:ph type="title"/>
          </p:nvPr>
        </p:nvSpPr>
        <p:spPr>
          <a:xfrm>
            <a:off x="838200" y="218661"/>
            <a:ext cx="10515600" cy="1325563"/>
          </a:xfrm>
        </p:spPr>
        <p:txBody>
          <a:bodyPr/>
          <a:lstStyle/>
          <a:p>
            <a:pPr algn="ctr"/>
            <a:r>
              <a:rPr lang="en-US" b="1" dirty="0">
                <a:latin typeface="Calibri" panose="020F0502020204030204" pitchFamily="34" charset="0"/>
                <a:cs typeface="Calibri" panose="020F0502020204030204" pitchFamily="34" charset="0"/>
              </a:rPr>
              <a:t>Introduction</a:t>
            </a:r>
            <a:endParaRPr lang="en-US" dirty="0"/>
          </a:p>
        </p:txBody>
      </p:sp>
      <p:sp>
        <p:nvSpPr>
          <p:cNvPr id="3" name="Content Placeholder 2">
            <a:extLst>
              <a:ext uri="{FF2B5EF4-FFF2-40B4-BE49-F238E27FC236}">
                <a16:creationId xmlns:a16="http://schemas.microsoft.com/office/drawing/2014/main" xmlns="" id="{F635BDD0-E254-43A5-B9B0-4F0A0633325E}"/>
              </a:ext>
            </a:extLst>
          </p:cNvPr>
          <p:cNvSpPr>
            <a:spLocks noGrp="1"/>
          </p:cNvSpPr>
          <p:nvPr>
            <p:ph idx="1"/>
          </p:nvPr>
        </p:nvSpPr>
        <p:spPr>
          <a:xfrm>
            <a:off x="838200" y="1232453"/>
            <a:ext cx="10515600" cy="5300869"/>
          </a:xfrm>
        </p:spPr>
        <p:txBody>
          <a:bodyPr>
            <a:normAutofit/>
          </a:bodyPr>
          <a:lstStyle/>
          <a:p>
            <a:pPr marL="0" indent="0">
              <a:lnSpc>
                <a:spcPct val="160000"/>
              </a:lnSpc>
              <a:buNone/>
            </a:pPr>
            <a:r>
              <a:rPr lang="en-US" sz="2200" dirty="0">
                <a:latin typeface="Times New Roman" panose="02020603050405020304" pitchFamily="18" charset="0"/>
                <a:cs typeface="Times New Roman" panose="02020603050405020304" pitchFamily="18" charset="0"/>
              </a:rPr>
              <a:t>The idea of the PLC-based Automatic Color Sorting System comes from the need to improve efficiency and accuracy in industrial material handling processes. </a:t>
            </a:r>
            <a:endParaRPr lang="en-US" sz="2200" dirty="0" smtClean="0">
              <a:latin typeface="Times New Roman" panose="02020603050405020304" pitchFamily="18" charset="0"/>
              <a:cs typeface="Times New Roman" panose="02020603050405020304" pitchFamily="18" charset="0"/>
            </a:endParaRPr>
          </a:p>
          <a:p>
            <a:pPr marL="0" indent="0">
              <a:lnSpc>
                <a:spcPct val="160000"/>
              </a:lnSpc>
              <a:buNone/>
            </a:pPr>
            <a:r>
              <a:rPr lang="en-US" sz="2200" dirty="0" smtClean="0">
                <a:latin typeface="Times New Roman" panose="02020603050405020304" pitchFamily="18" charset="0"/>
                <a:cs typeface="Times New Roman" panose="02020603050405020304" pitchFamily="18" charset="0"/>
              </a:rPr>
              <a:t>In </a:t>
            </a:r>
            <a:r>
              <a:rPr lang="en-US" sz="2200" dirty="0">
                <a:latin typeface="Times New Roman" panose="02020603050405020304" pitchFamily="18" charset="0"/>
                <a:cs typeface="Times New Roman" panose="02020603050405020304" pitchFamily="18" charset="0"/>
              </a:rPr>
              <a:t>many industries, products of different colors </a:t>
            </a:r>
            <a:r>
              <a:rPr lang="en-US" sz="2200" dirty="0" smtClean="0">
                <a:latin typeface="Times New Roman" panose="02020603050405020304" pitchFamily="18" charset="0"/>
                <a:cs typeface="Times New Roman" panose="02020603050405020304" pitchFamily="18" charset="0"/>
              </a:rPr>
              <a:t>need to</a:t>
            </a:r>
            <a:r>
              <a:rPr lang="en-US" sz="2200" dirty="0" smtClean="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be separated for packaging, quality control, or further processing. </a:t>
            </a:r>
            <a:endParaRPr lang="en-US" sz="2200" dirty="0" smtClean="0">
              <a:latin typeface="Times New Roman" panose="02020603050405020304" pitchFamily="18" charset="0"/>
              <a:cs typeface="Times New Roman" panose="02020603050405020304" pitchFamily="18" charset="0"/>
            </a:endParaRPr>
          </a:p>
          <a:p>
            <a:pPr marL="0" indent="0">
              <a:lnSpc>
                <a:spcPct val="160000"/>
              </a:lnSpc>
              <a:buNone/>
            </a:pPr>
            <a:r>
              <a:rPr lang="en-US" sz="2200" dirty="0" smtClean="0">
                <a:latin typeface="Times New Roman" panose="02020603050405020304" pitchFamily="18" charset="0"/>
                <a:cs typeface="Times New Roman" panose="02020603050405020304" pitchFamily="18" charset="0"/>
              </a:rPr>
              <a:t>This </a:t>
            </a:r>
            <a:r>
              <a:rPr lang="en-US" sz="2200" dirty="0">
                <a:latin typeface="Times New Roman" panose="02020603050405020304" pitchFamily="18" charset="0"/>
                <a:cs typeface="Times New Roman" panose="02020603050405020304" pitchFamily="18" charset="0"/>
              </a:rPr>
              <a:t>system is </a:t>
            </a:r>
            <a:r>
              <a:rPr lang="en-US" sz="2200" dirty="0" smtClean="0">
                <a:latin typeface="Times New Roman" panose="02020603050405020304" pitchFamily="18" charset="0"/>
                <a:cs typeface="Times New Roman" panose="02020603050405020304" pitchFamily="18" charset="0"/>
              </a:rPr>
              <a:t>applicable </a:t>
            </a:r>
            <a:r>
              <a:rPr lang="en-US" sz="2200" dirty="0">
                <a:latin typeface="Times New Roman" panose="02020603050405020304" pitchFamily="18" charset="0"/>
                <a:cs typeface="Times New Roman" panose="02020603050405020304" pitchFamily="18" charset="0"/>
              </a:rPr>
              <a:t>in industries such as manufacturing, packaging, food processing, recycling, and quality inspection </a:t>
            </a:r>
            <a:r>
              <a:rPr lang="en-US" sz="2200" dirty="0" smtClean="0">
                <a:latin typeface="Times New Roman" panose="02020603050405020304" pitchFamily="18" charset="0"/>
                <a:cs typeface="Times New Roman" panose="02020603050405020304" pitchFamily="18" charset="0"/>
              </a:rPr>
              <a:t>lines</a:t>
            </a:r>
            <a:r>
              <a:rPr lang="en-US" sz="2200" dirty="0" smtClean="0">
                <a:latin typeface="Times New Roman" panose="02020603050405020304" pitchFamily="18" charset="0"/>
                <a:cs typeface="Times New Roman" panose="02020603050405020304" pitchFamily="18" charset="0"/>
              </a:rPr>
              <a:t>, etc.</a:t>
            </a:r>
            <a:endParaRPr lang="en-US" sz="2200" dirty="0" smtClean="0">
              <a:latin typeface="Times New Roman" panose="02020603050405020304" pitchFamily="18" charset="0"/>
              <a:cs typeface="Times New Roman" panose="02020603050405020304" pitchFamily="18" charset="0"/>
            </a:endParaRPr>
          </a:p>
          <a:p>
            <a:pPr marL="0" indent="0">
              <a:lnSpc>
                <a:spcPct val="160000"/>
              </a:lnSpc>
              <a:buNone/>
            </a:pPr>
            <a:r>
              <a:rPr lang="en-US" sz="2200" dirty="0" smtClean="0">
                <a:latin typeface="Times New Roman" panose="02020603050405020304" pitchFamily="18" charset="0"/>
                <a:cs typeface="Times New Roman" panose="02020603050405020304" pitchFamily="18" charset="0"/>
              </a:rPr>
              <a:t>It </a:t>
            </a:r>
            <a:r>
              <a:rPr lang="en-US" sz="2200" dirty="0">
                <a:latin typeface="Times New Roman" panose="02020603050405020304" pitchFamily="18" charset="0"/>
                <a:cs typeface="Times New Roman" panose="02020603050405020304" pitchFamily="18" charset="0"/>
              </a:rPr>
              <a:t>performs automatic detection and sorting of objects based on color using sensors, machine vision, and controlled actuators. </a:t>
            </a:r>
          </a:p>
        </p:txBody>
      </p:sp>
    </p:spTree>
    <p:extLst>
      <p:ext uri="{BB962C8B-B14F-4D97-AF65-F5344CB8AC3E}">
        <p14:creationId xmlns:p14="http://schemas.microsoft.com/office/powerpoint/2010/main" val="28096287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4F0FD8-D6C0-42AB-8403-6CBB2ADBA77B}"/>
              </a:ext>
            </a:extLst>
          </p:cNvPr>
          <p:cNvSpPr>
            <a:spLocks noGrp="1"/>
          </p:cNvSpPr>
          <p:nvPr>
            <p:ph type="title"/>
          </p:nvPr>
        </p:nvSpPr>
        <p:spPr/>
        <p:txBody>
          <a:bodyPr>
            <a:normAutofit/>
          </a:bodyPr>
          <a:lstStyle/>
          <a:p>
            <a:pPr algn="ctr"/>
            <a:r>
              <a:rPr lang="en-US" sz="4000" b="1" dirty="0">
                <a:latin typeface="+mn-lt"/>
              </a:rPr>
              <a:t>Literature Review</a:t>
            </a:r>
          </a:p>
        </p:txBody>
      </p:sp>
      <p:sp>
        <p:nvSpPr>
          <p:cNvPr id="3" name="Content Placeholder 2">
            <a:extLst>
              <a:ext uri="{FF2B5EF4-FFF2-40B4-BE49-F238E27FC236}">
                <a16:creationId xmlns:a16="http://schemas.microsoft.com/office/drawing/2014/main" xmlns="" id="{614C04F7-08C0-4CAA-AB09-0300DEA936B7}"/>
              </a:ext>
            </a:extLst>
          </p:cNvPr>
          <p:cNvSpPr>
            <a:spLocks noGrp="1"/>
          </p:cNvSpPr>
          <p:nvPr>
            <p:ph idx="1"/>
          </p:nvPr>
        </p:nvSpPr>
        <p:spPr/>
        <p:txBody>
          <a:bodyPr>
            <a:normAutofit/>
          </a:bodyPr>
          <a:lstStyle/>
          <a:p>
            <a:pPr marL="0" indent="0">
              <a:lnSpc>
                <a:spcPct val="150000"/>
              </a:lnSpc>
              <a:buNone/>
            </a:pPr>
            <a:r>
              <a:rPr lang="en-US" sz="2200" dirty="0">
                <a:latin typeface="Times New Roman" panose="02020603050405020304" pitchFamily="18" charset="0"/>
                <a:cs typeface="Times New Roman" panose="02020603050405020304" pitchFamily="18" charset="0"/>
              </a:rPr>
              <a:t>Previous research shows that PLC-based chromatic sorting systems improve automation by integrating sensors, conveyor belts, and robotic mechanisms to achieve accurate and reliable sorting. Vision-based techniques using Raspberry Pi and cameras enable real-</a:t>
            </a:r>
            <a:r>
              <a:rPr lang="en-US" sz="2200" dirty="0" err="1">
                <a:latin typeface="Times New Roman" panose="02020603050405020304" pitchFamily="18" charset="0"/>
                <a:cs typeface="Times New Roman" panose="02020603050405020304" pitchFamily="18" charset="0"/>
              </a:rPr>
              <a:t>timecolor</a:t>
            </a:r>
            <a:r>
              <a:rPr lang="en-US" sz="2200" dirty="0">
                <a:latin typeface="Times New Roman" panose="02020603050405020304" pitchFamily="18" charset="0"/>
                <a:cs typeface="Times New Roman" panose="02020603050405020304" pitchFamily="18" charset="0"/>
              </a:rPr>
              <a:t> detection, reducing human involvement and errors. The integration of robotic arms for pick-and-place operations enhances system efficiency and flexibility. Communication modules such as RS485 ensure smooth coordination between PLCs and controllers. Overall, these studies confirm that smart chromatic sorting systems are effective solutions for modern industrial automation</a:t>
            </a:r>
          </a:p>
        </p:txBody>
      </p:sp>
    </p:spTree>
    <p:extLst>
      <p:ext uri="{BB962C8B-B14F-4D97-AF65-F5344CB8AC3E}">
        <p14:creationId xmlns:p14="http://schemas.microsoft.com/office/powerpoint/2010/main" val="40884168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99A025-9E2B-423C-90E9-78231F91250E}"/>
              </a:ext>
            </a:extLst>
          </p:cNvPr>
          <p:cNvSpPr>
            <a:spLocks noGrp="1"/>
          </p:cNvSpPr>
          <p:nvPr>
            <p:ph type="title"/>
          </p:nvPr>
        </p:nvSpPr>
        <p:spPr/>
        <p:txBody>
          <a:bodyPr>
            <a:normAutofit/>
          </a:bodyPr>
          <a:lstStyle/>
          <a:p>
            <a:pPr algn="ctr"/>
            <a:r>
              <a:rPr lang="en-US" sz="4000" b="1" dirty="0">
                <a:latin typeface="+mn-lt"/>
              </a:rPr>
              <a:t>Problem Statement</a:t>
            </a:r>
          </a:p>
        </p:txBody>
      </p:sp>
      <p:sp>
        <p:nvSpPr>
          <p:cNvPr id="4" name="Rectangle 1">
            <a:extLst>
              <a:ext uri="{FF2B5EF4-FFF2-40B4-BE49-F238E27FC236}">
                <a16:creationId xmlns:a16="http://schemas.microsoft.com/office/drawing/2014/main" xmlns="" id="{A65BF60C-4032-4B6D-9EB6-44342146AADF}"/>
              </a:ext>
            </a:extLst>
          </p:cNvPr>
          <p:cNvSpPr>
            <a:spLocks noGrp="1" noChangeArrowheads="1"/>
          </p:cNvSpPr>
          <p:nvPr>
            <p:ph idx="1"/>
          </p:nvPr>
        </p:nvSpPr>
        <p:spPr bwMode="auto">
          <a:xfrm>
            <a:off x="930197" y="2714178"/>
            <a:ext cx="10331606"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eaLnBrk="0" fontAlgn="base" hangingPunct="0">
              <a:lnSpc>
                <a:spcPct val="150000"/>
              </a:lnSpc>
              <a:spcBef>
                <a:spcPct val="0"/>
              </a:spcBef>
              <a:spcAft>
                <a:spcPct val="0"/>
              </a:spcAft>
              <a:buNone/>
            </a:pPr>
            <a:r>
              <a:rPr lang="en-US" sz="2200" dirty="0" smtClean="0">
                <a:latin typeface="Times New Roman" panose="02020603050405020304" pitchFamily="18" charset="0"/>
                <a:cs typeface="Times New Roman" panose="02020603050405020304" pitchFamily="18" charset="0"/>
              </a:rPr>
              <a:t>Manual </a:t>
            </a:r>
            <a:r>
              <a:rPr lang="en-US" sz="2200" dirty="0">
                <a:latin typeface="Times New Roman" panose="02020603050405020304" pitchFamily="18" charset="0"/>
                <a:cs typeface="Times New Roman" panose="02020603050405020304" pitchFamily="18" charset="0"/>
              </a:rPr>
              <a:t>color sorting is slow, labor-intensive, error-prone, inconsistent, costly, and unsuitable for continuous industrial </a:t>
            </a:r>
            <a:r>
              <a:rPr lang="en-US" sz="2200" dirty="0" smtClean="0">
                <a:latin typeface="Times New Roman" panose="02020603050405020304" pitchFamily="18" charset="0"/>
                <a:cs typeface="Times New Roman" panose="02020603050405020304" pitchFamily="18" charset="0"/>
              </a:rPr>
              <a:t>production</a:t>
            </a:r>
            <a:r>
              <a:rPr lang="en-US" sz="2200" dirty="0">
                <a:latin typeface="Times New Roman" panose="02020603050405020304" pitchFamily="18" charset="0"/>
                <a:cs typeface="Times New Roman" panose="02020603050405020304" pitchFamily="18" charset="0"/>
              </a:rPr>
              <a:t>, therefore </a:t>
            </a:r>
            <a:r>
              <a:rPr lang="en-US" sz="2200" dirty="0" smtClean="0">
                <a:latin typeface="Times New Roman" panose="02020603050405020304" pitchFamily="18" charset="0"/>
                <a:cs typeface="Times New Roman" panose="02020603050405020304" pitchFamily="18" charset="0"/>
              </a:rPr>
              <a:t>there </a:t>
            </a:r>
            <a:r>
              <a:rPr lang="en-US" sz="2200" dirty="0">
                <a:latin typeface="Times New Roman" panose="02020603050405020304" pitchFamily="18" charset="0"/>
                <a:cs typeface="Times New Roman" panose="02020603050405020304" pitchFamily="18" charset="0"/>
              </a:rPr>
              <a:t>is a need of </a:t>
            </a:r>
            <a:r>
              <a:rPr lang="en-US" sz="2200" dirty="0" smtClean="0">
                <a:latin typeface="Times New Roman" panose="02020603050405020304" pitchFamily="18" charset="0"/>
                <a:cs typeface="Times New Roman" panose="02020603050405020304" pitchFamily="18" charset="0"/>
              </a:rPr>
              <a:t>automatic </a:t>
            </a:r>
            <a:r>
              <a:rPr lang="en-US" sz="2200" dirty="0">
                <a:latin typeface="Times New Roman" panose="02020603050405020304" pitchFamily="18" charset="0"/>
                <a:cs typeface="Times New Roman" panose="02020603050405020304" pitchFamily="18" charset="0"/>
              </a:rPr>
              <a:t>color sorting. </a:t>
            </a:r>
            <a:endParaRPr lang="en-US" sz="2200" dirty="0">
              <a:latin typeface="Times New Roman" panose="02020603050405020304" pitchFamily="18" charset="0"/>
              <a:cs typeface="Times New Roman" panose="02020603050405020304" pitchFamily="18" charset="0"/>
            </a:endParaRPr>
          </a:p>
          <a:p>
            <a:pPr marL="0" lvl="0" indent="0" eaLnBrk="0" fontAlgn="base" hangingPunct="0">
              <a:lnSpc>
                <a:spcPct val="150000"/>
              </a:lnSpc>
              <a:spcBef>
                <a:spcPct val="0"/>
              </a:spcBef>
              <a:spcAft>
                <a:spcPct val="0"/>
              </a:spcAft>
              <a:buNone/>
            </a:pPr>
            <a:r>
              <a:rPr lang="en-US" sz="2200" dirty="0"/>
              <a:t>.</a:t>
            </a:r>
            <a:endParaRPr kumimoji="0" lang="en-US" altLang="en-US" sz="22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54393889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0DAEAF-8A68-4C7E-B484-C7C48D1406E5}"/>
              </a:ext>
            </a:extLst>
          </p:cNvPr>
          <p:cNvSpPr>
            <a:spLocks noGrp="1"/>
          </p:cNvSpPr>
          <p:nvPr>
            <p:ph type="title"/>
          </p:nvPr>
        </p:nvSpPr>
        <p:spPr/>
        <p:txBody>
          <a:bodyPr>
            <a:normAutofit/>
          </a:bodyPr>
          <a:lstStyle/>
          <a:p>
            <a:pPr algn="ctr"/>
            <a:r>
              <a:rPr lang="en-US" sz="4000" b="1" dirty="0">
                <a:latin typeface="Calibri" panose="020F0502020204030204" pitchFamily="34" charset="0"/>
                <a:cs typeface="Calibri" panose="020F0502020204030204" pitchFamily="34" charset="0"/>
              </a:rPr>
              <a:t>Objectives</a:t>
            </a:r>
            <a:endParaRPr lang="en-US" sz="4000" dirty="0"/>
          </a:p>
        </p:txBody>
      </p:sp>
      <p:sp>
        <p:nvSpPr>
          <p:cNvPr id="3" name="Content Placeholder 2">
            <a:extLst>
              <a:ext uri="{FF2B5EF4-FFF2-40B4-BE49-F238E27FC236}">
                <a16:creationId xmlns:a16="http://schemas.microsoft.com/office/drawing/2014/main" xmlns="" id="{506F1EE6-5094-4483-AE31-8FFAB2DC350D}"/>
              </a:ext>
            </a:extLst>
          </p:cNvPr>
          <p:cNvSpPr>
            <a:spLocks noGrp="1"/>
          </p:cNvSpPr>
          <p:nvPr>
            <p:ph idx="1"/>
          </p:nvPr>
        </p:nvSpPr>
        <p:spPr>
          <a:xfrm>
            <a:off x="838200" y="2419832"/>
            <a:ext cx="10515600" cy="2417211"/>
          </a:xfrm>
        </p:spPr>
        <p:txBody>
          <a:bodyPr/>
          <a:lstStyle/>
          <a:p>
            <a:pPr>
              <a:lnSpc>
                <a:spcPct val="150000"/>
              </a:lnSpc>
            </a:pPr>
            <a:r>
              <a:rPr lang="en-US" sz="2200" dirty="0"/>
              <a:t>Automate color-based sorting to reduce human effort and errors</a:t>
            </a:r>
          </a:p>
          <a:p>
            <a:pPr>
              <a:lnSpc>
                <a:spcPct val="150000"/>
              </a:lnSpc>
            </a:pPr>
            <a:r>
              <a:rPr lang="en-US" sz="2200" dirty="0"/>
              <a:t>Achieve fast and accurate sorting using PLC, sensors, and camera vision</a:t>
            </a:r>
          </a:p>
          <a:p>
            <a:pPr>
              <a:lnSpc>
                <a:spcPct val="150000"/>
              </a:lnSpc>
            </a:pPr>
            <a:r>
              <a:rPr lang="en-US" sz="2200" dirty="0"/>
              <a:t>Integrate conveyor, camera, and robotic arm for coordinated industrial automation</a:t>
            </a:r>
          </a:p>
          <a:p>
            <a:endParaRPr lang="en-US" dirty="0"/>
          </a:p>
        </p:txBody>
      </p:sp>
    </p:spTree>
    <p:extLst>
      <p:ext uri="{BB962C8B-B14F-4D97-AF65-F5344CB8AC3E}">
        <p14:creationId xmlns:p14="http://schemas.microsoft.com/office/powerpoint/2010/main" val="4562312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E55E641-56B7-4BFC-A9E9-F02EC489292E}"/>
              </a:ext>
            </a:extLst>
          </p:cNvPr>
          <p:cNvSpPr>
            <a:spLocks noGrp="1"/>
          </p:cNvSpPr>
          <p:nvPr>
            <p:ph type="title"/>
          </p:nvPr>
        </p:nvSpPr>
        <p:spPr>
          <a:xfrm>
            <a:off x="798445" y="229223"/>
            <a:ext cx="10515600" cy="1063035"/>
          </a:xfrm>
        </p:spPr>
        <p:txBody>
          <a:bodyPr>
            <a:normAutofit/>
          </a:bodyPr>
          <a:lstStyle/>
          <a:p>
            <a:pPr algn="ctr"/>
            <a:r>
              <a:rPr lang="en-US" sz="4000" b="1" dirty="0" smtClean="0">
                <a:latin typeface="Times New Roman" panose="02020603050405020304" pitchFamily="18" charset="0"/>
                <a:cs typeface="Times New Roman" panose="02020603050405020304" pitchFamily="18" charset="0"/>
              </a:rPr>
              <a:t>Methodology</a:t>
            </a:r>
            <a:endParaRPr lang="en-US" sz="4000" b="1" dirty="0">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xmlns="" id="{B740CD04-7CF7-49BC-9561-E654214D16D5}"/>
              </a:ext>
            </a:extLst>
          </p:cNvPr>
          <p:cNvSpPr/>
          <p:nvPr/>
        </p:nvSpPr>
        <p:spPr>
          <a:xfrm>
            <a:off x="1398105" y="5021537"/>
            <a:ext cx="8097077" cy="98066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200" b="1" dirty="0"/>
              <a:t>Conveyor Belt</a:t>
            </a:r>
          </a:p>
        </p:txBody>
      </p:sp>
      <p:sp>
        <p:nvSpPr>
          <p:cNvPr id="4" name="Rectangle: Rounded Corners 3">
            <a:extLst>
              <a:ext uri="{FF2B5EF4-FFF2-40B4-BE49-F238E27FC236}">
                <a16:creationId xmlns:a16="http://schemas.microsoft.com/office/drawing/2014/main" xmlns="" id="{72EBA2AA-0B9C-4D05-AB8B-28F52E0E4305}"/>
              </a:ext>
            </a:extLst>
          </p:cNvPr>
          <p:cNvSpPr/>
          <p:nvPr/>
        </p:nvSpPr>
        <p:spPr>
          <a:xfrm>
            <a:off x="1398105" y="4264611"/>
            <a:ext cx="1417983" cy="59634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200" b="1" dirty="0"/>
              <a:t>IR Sensor</a:t>
            </a:r>
          </a:p>
        </p:txBody>
      </p:sp>
      <p:sp>
        <p:nvSpPr>
          <p:cNvPr id="15" name="Rectangle: Rounded Corners 14">
            <a:extLst>
              <a:ext uri="{FF2B5EF4-FFF2-40B4-BE49-F238E27FC236}">
                <a16:creationId xmlns:a16="http://schemas.microsoft.com/office/drawing/2014/main" xmlns="" id="{4D6BAC78-9557-4D84-A905-F8FA1836A944}"/>
              </a:ext>
            </a:extLst>
          </p:cNvPr>
          <p:cNvSpPr/>
          <p:nvPr/>
        </p:nvSpPr>
        <p:spPr>
          <a:xfrm>
            <a:off x="10268780" y="3845587"/>
            <a:ext cx="1417983" cy="59634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200" b="1" dirty="0"/>
              <a:t>Arduino UNO</a:t>
            </a:r>
          </a:p>
        </p:txBody>
      </p:sp>
      <p:sp>
        <p:nvSpPr>
          <p:cNvPr id="16" name="Rectangle: Rounded Corners 15">
            <a:extLst>
              <a:ext uri="{FF2B5EF4-FFF2-40B4-BE49-F238E27FC236}">
                <a16:creationId xmlns:a16="http://schemas.microsoft.com/office/drawing/2014/main" xmlns="" id="{85AAAE92-C49D-46AB-A657-482989FFC692}"/>
              </a:ext>
            </a:extLst>
          </p:cNvPr>
          <p:cNvSpPr/>
          <p:nvPr/>
        </p:nvSpPr>
        <p:spPr>
          <a:xfrm>
            <a:off x="6056245" y="4295152"/>
            <a:ext cx="1417983" cy="59634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200" b="1" dirty="0"/>
              <a:t>Pi Camera</a:t>
            </a:r>
          </a:p>
        </p:txBody>
      </p:sp>
      <p:sp>
        <p:nvSpPr>
          <p:cNvPr id="17" name="Rectangle: Rounded Corners 16">
            <a:extLst>
              <a:ext uri="{FF2B5EF4-FFF2-40B4-BE49-F238E27FC236}">
                <a16:creationId xmlns:a16="http://schemas.microsoft.com/office/drawing/2014/main" xmlns="" id="{66F0D94C-C762-4440-8CC0-318421274CD6}"/>
              </a:ext>
            </a:extLst>
          </p:cNvPr>
          <p:cNvSpPr/>
          <p:nvPr/>
        </p:nvSpPr>
        <p:spPr>
          <a:xfrm>
            <a:off x="4446106" y="4264611"/>
            <a:ext cx="1417983" cy="59634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200" b="1" dirty="0"/>
              <a:t>IR Sensor</a:t>
            </a:r>
          </a:p>
        </p:txBody>
      </p:sp>
      <p:sp>
        <p:nvSpPr>
          <p:cNvPr id="18" name="Rectangle: Rounded Corners 17">
            <a:extLst>
              <a:ext uri="{FF2B5EF4-FFF2-40B4-BE49-F238E27FC236}">
                <a16:creationId xmlns:a16="http://schemas.microsoft.com/office/drawing/2014/main" xmlns="" id="{0731DE7B-0401-4EC2-8131-C70D37C0BD82}"/>
              </a:ext>
            </a:extLst>
          </p:cNvPr>
          <p:cNvSpPr/>
          <p:nvPr/>
        </p:nvSpPr>
        <p:spPr>
          <a:xfrm>
            <a:off x="8077199" y="4306102"/>
            <a:ext cx="1417983" cy="59634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200" b="1" dirty="0"/>
              <a:t>IR Sensor</a:t>
            </a:r>
          </a:p>
        </p:txBody>
      </p:sp>
      <p:sp>
        <p:nvSpPr>
          <p:cNvPr id="19" name="Rectangle: Rounded Corners 18">
            <a:extLst>
              <a:ext uri="{FF2B5EF4-FFF2-40B4-BE49-F238E27FC236}">
                <a16:creationId xmlns:a16="http://schemas.microsoft.com/office/drawing/2014/main" xmlns="" id="{F99D308B-978A-406D-BBFF-C088B04A19F0}"/>
              </a:ext>
            </a:extLst>
          </p:cNvPr>
          <p:cNvSpPr/>
          <p:nvPr/>
        </p:nvSpPr>
        <p:spPr>
          <a:xfrm>
            <a:off x="8077199" y="6162777"/>
            <a:ext cx="1417983" cy="59634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200" b="1" dirty="0"/>
              <a:t>DC Motor</a:t>
            </a:r>
          </a:p>
        </p:txBody>
      </p:sp>
      <p:sp>
        <p:nvSpPr>
          <p:cNvPr id="21" name="Rectangle: Rounded Corners 20">
            <a:extLst>
              <a:ext uri="{FF2B5EF4-FFF2-40B4-BE49-F238E27FC236}">
                <a16:creationId xmlns:a16="http://schemas.microsoft.com/office/drawing/2014/main" xmlns="" id="{1716CEC8-660C-45AC-A727-8EAA9EEC44C4}"/>
              </a:ext>
            </a:extLst>
          </p:cNvPr>
          <p:cNvSpPr/>
          <p:nvPr/>
        </p:nvSpPr>
        <p:spPr>
          <a:xfrm>
            <a:off x="5367132" y="3178570"/>
            <a:ext cx="1417983" cy="59634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200" b="1" dirty="0" err="1"/>
              <a:t>Raspbery</a:t>
            </a:r>
            <a:r>
              <a:rPr lang="en-US" sz="2200" b="1" dirty="0"/>
              <a:t> Pi B+</a:t>
            </a:r>
          </a:p>
        </p:txBody>
      </p:sp>
      <p:sp>
        <p:nvSpPr>
          <p:cNvPr id="22" name="Rectangle: Rounded Corners 21">
            <a:extLst>
              <a:ext uri="{FF2B5EF4-FFF2-40B4-BE49-F238E27FC236}">
                <a16:creationId xmlns:a16="http://schemas.microsoft.com/office/drawing/2014/main" xmlns="" id="{86578636-6A4E-49B0-A2F3-A6B31AC5551D}"/>
              </a:ext>
            </a:extLst>
          </p:cNvPr>
          <p:cNvSpPr/>
          <p:nvPr/>
        </p:nvSpPr>
        <p:spPr>
          <a:xfrm>
            <a:off x="9935816" y="5213693"/>
            <a:ext cx="1417983" cy="59634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200" b="1" dirty="0"/>
              <a:t>Robotic Arm</a:t>
            </a:r>
          </a:p>
        </p:txBody>
      </p:sp>
      <p:sp>
        <p:nvSpPr>
          <p:cNvPr id="23" name="Rectangle: Rounded Corners 22">
            <a:extLst>
              <a:ext uri="{FF2B5EF4-FFF2-40B4-BE49-F238E27FC236}">
                <a16:creationId xmlns:a16="http://schemas.microsoft.com/office/drawing/2014/main" xmlns="" id="{5EFCCEE6-374D-48BF-A132-AC829798FBD1}"/>
              </a:ext>
            </a:extLst>
          </p:cNvPr>
          <p:cNvSpPr/>
          <p:nvPr/>
        </p:nvSpPr>
        <p:spPr>
          <a:xfrm>
            <a:off x="9935817" y="6162087"/>
            <a:ext cx="1417983" cy="59634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200" b="1" dirty="0"/>
              <a:t>Motor Driver</a:t>
            </a:r>
          </a:p>
        </p:txBody>
      </p:sp>
      <p:sp>
        <p:nvSpPr>
          <p:cNvPr id="24" name="Oval 23">
            <a:extLst>
              <a:ext uri="{FF2B5EF4-FFF2-40B4-BE49-F238E27FC236}">
                <a16:creationId xmlns:a16="http://schemas.microsoft.com/office/drawing/2014/main" xmlns="" id="{54D6FBE5-60E5-4260-B599-EB6B78CDEBB4}"/>
              </a:ext>
            </a:extLst>
          </p:cNvPr>
          <p:cNvSpPr/>
          <p:nvPr/>
        </p:nvSpPr>
        <p:spPr>
          <a:xfrm>
            <a:off x="5327375" y="1361644"/>
            <a:ext cx="1457740" cy="129209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4000" b="1" dirty="0"/>
              <a:t>PLC</a:t>
            </a:r>
          </a:p>
        </p:txBody>
      </p:sp>
      <p:cxnSp>
        <p:nvCxnSpPr>
          <p:cNvPr id="26" name="Straight Arrow Connector 25">
            <a:extLst>
              <a:ext uri="{FF2B5EF4-FFF2-40B4-BE49-F238E27FC236}">
                <a16:creationId xmlns:a16="http://schemas.microsoft.com/office/drawing/2014/main" xmlns="" id="{AA168807-600E-4833-942C-0A70FFDA5BD8}"/>
              </a:ext>
            </a:extLst>
          </p:cNvPr>
          <p:cNvCxnSpPr>
            <a:cxnSpLocks/>
            <a:stCxn id="4" idx="0"/>
            <a:endCxn id="24" idx="2"/>
          </p:cNvCxnSpPr>
          <p:nvPr/>
        </p:nvCxnSpPr>
        <p:spPr>
          <a:xfrm flipV="1">
            <a:off x="2107097" y="2007693"/>
            <a:ext cx="3220278" cy="22569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xmlns="" id="{C516EE5A-98CF-4E72-AFE9-686204CDB627}"/>
              </a:ext>
            </a:extLst>
          </p:cNvPr>
          <p:cNvCxnSpPr>
            <a:cxnSpLocks/>
            <a:stCxn id="15" idx="0"/>
            <a:endCxn id="24" idx="6"/>
          </p:cNvCxnSpPr>
          <p:nvPr/>
        </p:nvCxnSpPr>
        <p:spPr>
          <a:xfrm flipH="1" flipV="1">
            <a:off x="6785115" y="2007693"/>
            <a:ext cx="4192657" cy="183789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xmlns="" id="{46F1473E-0E33-46B7-8E6B-EF0B6932245D}"/>
              </a:ext>
            </a:extLst>
          </p:cNvPr>
          <p:cNvCxnSpPr>
            <a:cxnSpLocks/>
            <a:stCxn id="21" idx="0"/>
            <a:endCxn id="24" idx="4"/>
          </p:cNvCxnSpPr>
          <p:nvPr/>
        </p:nvCxnSpPr>
        <p:spPr>
          <a:xfrm flipH="1" flipV="1">
            <a:off x="6056245" y="2653741"/>
            <a:ext cx="19879" cy="5248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xmlns="" id="{DDFB9C1D-0638-41A6-98B4-66B8A4456B07}"/>
              </a:ext>
            </a:extLst>
          </p:cNvPr>
          <p:cNvCxnSpPr>
            <a:cxnSpLocks/>
            <a:endCxn id="23" idx="1"/>
          </p:cNvCxnSpPr>
          <p:nvPr/>
        </p:nvCxnSpPr>
        <p:spPr>
          <a:xfrm>
            <a:off x="9495182" y="6448386"/>
            <a:ext cx="440635" cy="118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xmlns="" id="{A7BE8135-7D5A-45FB-A5B7-892373A62331}"/>
              </a:ext>
            </a:extLst>
          </p:cNvPr>
          <p:cNvCxnSpPr>
            <a:cxnSpLocks/>
          </p:cNvCxnSpPr>
          <p:nvPr/>
        </p:nvCxnSpPr>
        <p:spPr>
          <a:xfrm flipV="1">
            <a:off x="6527409" y="3774919"/>
            <a:ext cx="0" cy="5198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xmlns="" id="{D9C6C7A2-64DA-4C47-9B90-CBD97C845B24}"/>
              </a:ext>
            </a:extLst>
          </p:cNvPr>
          <p:cNvCxnSpPr>
            <a:stCxn id="18" idx="0"/>
            <a:endCxn id="24" idx="5"/>
          </p:cNvCxnSpPr>
          <p:nvPr/>
        </p:nvCxnSpPr>
        <p:spPr>
          <a:xfrm flipH="1" flipV="1">
            <a:off x="6571634" y="2464518"/>
            <a:ext cx="2214557" cy="18415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Connector: Elbow 51">
            <a:extLst>
              <a:ext uri="{FF2B5EF4-FFF2-40B4-BE49-F238E27FC236}">
                <a16:creationId xmlns:a16="http://schemas.microsoft.com/office/drawing/2014/main" xmlns="" id="{E43696F0-04D7-43EB-9E7C-6F2D2F7FB973}"/>
              </a:ext>
            </a:extLst>
          </p:cNvPr>
          <p:cNvCxnSpPr>
            <a:stCxn id="3" idx="2"/>
            <a:endCxn id="19" idx="1"/>
          </p:cNvCxnSpPr>
          <p:nvPr/>
        </p:nvCxnSpPr>
        <p:spPr>
          <a:xfrm rot="16200000" flipH="1">
            <a:off x="6532545" y="4916296"/>
            <a:ext cx="458753" cy="263055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Connector: Elbow 53">
            <a:extLst>
              <a:ext uri="{FF2B5EF4-FFF2-40B4-BE49-F238E27FC236}">
                <a16:creationId xmlns:a16="http://schemas.microsoft.com/office/drawing/2014/main" xmlns="" id="{8F85D904-2094-4537-A1A0-AD6DAC01196F}"/>
              </a:ext>
            </a:extLst>
          </p:cNvPr>
          <p:cNvCxnSpPr>
            <a:cxnSpLocks/>
            <a:stCxn id="17" idx="0"/>
            <a:endCxn id="24" idx="3"/>
          </p:cNvCxnSpPr>
          <p:nvPr/>
        </p:nvCxnSpPr>
        <p:spPr>
          <a:xfrm rot="5400000" flipH="1" flipV="1">
            <a:off x="4447931" y="3171686"/>
            <a:ext cx="1800093" cy="385758"/>
          </a:xfrm>
          <a:prstGeom prst="bentConnector3">
            <a:avLst>
              <a:gd name="adj1" fmla="val 6641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xmlns="" id="{C2898ADB-795E-4F8D-B97D-33C960CD6E11}"/>
              </a:ext>
            </a:extLst>
          </p:cNvPr>
          <p:cNvCxnSpPr>
            <a:stCxn id="23" idx="0"/>
            <a:endCxn id="22" idx="2"/>
          </p:cNvCxnSpPr>
          <p:nvPr/>
        </p:nvCxnSpPr>
        <p:spPr>
          <a:xfrm flipH="1" flipV="1">
            <a:off x="10644808" y="5810040"/>
            <a:ext cx="1" cy="3520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Connector: Elbow 65">
            <a:extLst>
              <a:ext uri="{FF2B5EF4-FFF2-40B4-BE49-F238E27FC236}">
                <a16:creationId xmlns:a16="http://schemas.microsoft.com/office/drawing/2014/main" xmlns="" id="{BCEC0DCB-B4C5-40E8-B1E1-64DC07E228B4}"/>
              </a:ext>
            </a:extLst>
          </p:cNvPr>
          <p:cNvCxnSpPr>
            <a:cxnSpLocks/>
            <a:stCxn id="22" idx="0"/>
            <a:endCxn id="15" idx="2"/>
          </p:cNvCxnSpPr>
          <p:nvPr/>
        </p:nvCxnSpPr>
        <p:spPr>
          <a:xfrm rot="5400000" flipH="1" flipV="1">
            <a:off x="10425411" y="4661332"/>
            <a:ext cx="771759" cy="33296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68" name="Rectangle 67">
            <a:extLst>
              <a:ext uri="{FF2B5EF4-FFF2-40B4-BE49-F238E27FC236}">
                <a16:creationId xmlns:a16="http://schemas.microsoft.com/office/drawing/2014/main" xmlns="" id="{C401F9B1-3734-4F5B-BA60-A7D5A3EDBB2D}"/>
              </a:ext>
            </a:extLst>
          </p:cNvPr>
          <p:cNvSpPr/>
          <p:nvPr/>
        </p:nvSpPr>
        <p:spPr>
          <a:xfrm rot="19492186">
            <a:off x="2686501" y="2849919"/>
            <a:ext cx="1618007" cy="430887"/>
          </a:xfrm>
          <a:prstGeom prst="rect">
            <a:avLst/>
          </a:prstGeom>
          <a:noFill/>
        </p:spPr>
        <p:txBody>
          <a:bodyPr wrap="square" lIns="91440" tIns="45720" rIns="91440" bIns="45720">
            <a:spAutoFit/>
          </a:bodyPr>
          <a:lstStyle/>
          <a:p>
            <a:pPr algn="ctr"/>
            <a:r>
              <a:rPr lang="en-US" sz="2200" cap="none" spc="0" dirty="0" err="1">
                <a:ln w="0"/>
                <a:solidFill>
                  <a:schemeClr val="tx1"/>
                </a:solidFill>
                <a:effectLst>
                  <a:outerShdw blurRad="38100" dist="19050" dir="2700000" algn="tl" rotWithShape="0">
                    <a:schemeClr val="dk1">
                      <a:alpha val="40000"/>
                    </a:schemeClr>
                  </a:outerShdw>
                </a:effectLst>
              </a:rPr>
              <a:t>Optoisolator</a:t>
            </a:r>
            <a:endParaRPr lang="en-US" sz="2200" cap="none" spc="0" dirty="0">
              <a:ln w="0"/>
              <a:solidFill>
                <a:schemeClr val="tx1"/>
              </a:solidFill>
              <a:effectLst>
                <a:outerShdw blurRad="38100" dist="19050" dir="2700000" algn="tl" rotWithShape="0">
                  <a:schemeClr val="dk1">
                    <a:alpha val="40000"/>
                  </a:schemeClr>
                </a:outerShdw>
              </a:effectLst>
            </a:endParaRPr>
          </a:p>
        </p:txBody>
      </p:sp>
      <p:sp>
        <p:nvSpPr>
          <p:cNvPr id="69" name="Rectangle 68">
            <a:extLst>
              <a:ext uri="{FF2B5EF4-FFF2-40B4-BE49-F238E27FC236}">
                <a16:creationId xmlns:a16="http://schemas.microsoft.com/office/drawing/2014/main" xmlns="" id="{7C84E77B-BEF6-49B1-8260-82A8227A0046}"/>
              </a:ext>
            </a:extLst>
          </p:cNvPr>
          <p:cNvSpPr/>
          <p:nvPr/>
        </p:nvSpPr>
        <p:spPr>
          <a:xfrm>
            <a:off x="6058592" y="2743089"/>
            <a:ext cx="892680" cy="430887"/>
          </a:xfrm>
          <a:prstGeom prst="rect">
            <a:avLst/>
          </a:prstGeom>
          <a:noFill/>
        </p:spPr>
        <p:txBody>
          <a:bodyPr wrap="none" lIns="91440" tIns="45720" rIns="91440" bIns="45720">
            <a:spAutoFit/>
          </a:bodyPr>
          <a:lstStyle/>
          <a:p>
            <a:pPr algn="ctr"/>
            <a:r>
              <a:rPr lang="en-US" sz="2200" b="0" cap="none" spc="0" dirty="0">
                <a:ln w="0"/>
                <a:solidFill>
                  <a:schemeClr val="tx1"/>
                </a:solidFill>
                <a:effectLst>
                  <a:outerShdw blurRad="38100" dist="19050" dir="2700000" algn="tl" rotWithShape="0">
                    <a:schemeClr val="dk1">
                      <a:alpha val="40000"/>
                    </a:schemeClr>
                  </a:outerShdw>
                </a:effectLst>
              </a:rPr>
              <a:t>RS485</a:t>
            </a:r>
          </a:p>
        </p:txBody>
      </p:sp>
    </p:spTree>
    <p:extLst>
      <p:ext uri="{BB962C8B-B14F-4D97-AF65-F5344CB8AC3E}">
        <p14:creationId xmlns:p14="http://schemas.microsoft.com/office/powerpoint/2010/main" val="8740270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5CAEC8D-B570-4541-B1B9-A79BD47EB58E}"/>
              </a:ext>
            </a:extLst>
          </p:cNvPr>
          <p:cNvSpPr>
            <a:spLocks noGrp="1"/>
          </p:cNvSpPr>
          <p:nvPr>
            <p:ph type="title"/>
          </p:nvPr>
        </p:nvSpPr>
        <p:spPr>
          <a:xfrm>
            <a:off x="838200" y="206100"/>
            <a:ext cx="10515600" cy="761310"/>
          </a:xfrm>
        </p:spPr>
        <p:txBody>
          <a:bodyPr>
            <a:normAutofit/>
          </a:bodyPr>
          <a:lstStyle/>
          <a:p>
            <a:pPr algn="ctr"/>
            <a:r>
              <a:rPr lang="en-US" sz="4000" b="1" dirty="0">
                <a:latin typeface="Calibri" panose="020F0502020204030204" pitchFamily="34" charset="0"/>
                <a:cs typeface="Calibri" panose="020F0502020204030204" pitchFamily="34" charset="0"/>
              </a:rPr>
              <a:t>Components</a:t>
            </a:r>
            <a:endParaRPr lang="en-US" sz="4000" dirty="0"/>
          </a:p>
        </p:txBody>
      </p:sp>
      <p:pic>
        <p:nvPicPr>
          <p:cNvPr id="5" name="Content Placeholder 4">
            <a:extLst>
              <a:ext uri="{FF2B5EF4-FFF2-40B4-BE49-F238E27FC236}">
                <a16:creationId xmlns:a16="http://schemas.microsoft.com/office/drawing/2014/main" xmlns="" id="{428A70EF-820D-441D-A296-0AAF4B79746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84277" y="676485"/>
            <a:ext cx="1754740" cy="2199239"/>
          </a:xfrm>
        </p:spPr>
      </p:pic>
      <p:pic>
        <p:nvPicPr>
          <p:cNvPr id="7" name="Picture 6">
            <a:extLst>
              <a:ext uri="{FF2B5EF4-FFF2-40B4-BE49-F238E27FC236}">
                <a16:creationId xmlns:a16="http://schemas.microsoft.com/office/drawing/2014/main" xmlns="" id="{8EF2E946-99E5-4C32-A26D-D2FDFE89DE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94364" y="963130"/>
            <a:ext cx="2143125" cy="1736450"/>
          </a:xfrm>
          <a:prstGeom prst="rect">
            <a:avLst/>
          </a:prstGeom>
        </p:spPr>
      </p:pic>
      <p:pic>
        <p:nvPicPr>
          <p:cNvPr id="9" name="Picture 8">
            <a:extLst>
              <a:ext uri="{FF2B5EF4-FFF2-40B4-BE49-F238E27FC236}">
                <a16:creationId xmlns:a16="http://schemas.microsoft.com/office/drawing/2014/main" xmlns="" id="{E1DB5C2A-0AB4-4D0F-A184-57D0857E6C6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07180" y="793578"/>
            <a:ext cx="2019300" cy="2019300"/>
          </a:xfrm>
          <a:prstGeom prst="rect">
            <a:avLst/>
          </a:prstGeom>
        </p:spPr>
      </p:pic>
      <p:pic>
        <p:nvPicPr>
          <p:cNvPr id="13" name="Picture 12">
            <a:extLst>
              <a:ext uri="{FF2B5EF4-FFF2-40B4-BE49-F238E27FC236}">
                <a16:creationId xmlns:a16="http://schemas.microsoft.com/office/drawing/2014/main" xmlns="" id="{272D505F-D157-4480-A9DD-F2FB6D23FBB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51631" y="902598"/>
            <a:ext cx="2857500" cy="2105025"/>
          </a:xfrm>
          <a:prstGeom prst="rect">
            <a:avLst/>
          </a:prstGeom>
        </p:spPr>
      </p:pic>
      <p:pic>
        <p:nvPicPr>
          <p:cNvPr id="2050" name="Picture 2" descr="Servo Control | Data-Driven Engineering">
            <a:extLst>
              <a:ext uri="{FF2B5EF4-FFF2-40B4-BE49-F238E27FC236}">
                <a16:creationId xmlns:a16="http://schemas.microsoft.com/office/drawing/2014/main" xmlns="" id="{C6AAC4AF-CBF2-4407-B4C0-18FFBEED91B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8378" y="2699580"/>
            <a:ext cx="3177622" cy="2612128"/>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Raspberry Pi 3 Model B - Raspberry Pi 3 B+ Retro Gaming Transparent PNG -  1000x1000 - Free Download on NicePNG">
            <a:extLst>
              <a:ext uri="{FF2B5EF4-FFF2-40B4-BE49-F238E27FC236}">
                <a16:creationId xmlns:a16="http://schemas.microsoft.com/office/drawing/2014/main" xmlns="" id="{4166995D-4B9C-48B1-B0AB-7E271C7AC97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38575" y="2887005"/>
            <a:ext cx="2257425" cy="2019300"/>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Raspberry Pi Camera HD v3 12MPx - original camera for Raspberry Pi">
            <a:extLst>
              <a:ext uri="{FF2B5EF4-FFF2-40B4-BE49-F238E27FC236}">
                <a16:creationId xmlns:a16="http://schemas.microsoft.com/office/drawing/2014/main" xmlns="" id="{4C3F4F8A-24D2-4064-8A2D-BF520BC9431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79931" y="2875724"/>
            <a:ext cx="2171700" cy="2105025"/>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Arduino Uno Images – Browse 1,098 Stock Photos, Vectors, and Video | Adobe  Stock">
            <a:extLst>
              <a:ext uri="{FF2B5EF4-FFF2-40B4-BE49-F238E27FC236}">
                <a16:creationId xmlns:a16="http://schemas.microsoft.com/office/drawing/2014/main" xmlns="" id="{70693E9A-1445-47B2-9ADF-BBC01E87881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666002" y="2688122"/>
            <a:ext cx="3416410" cy="2612128"/>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Dc Motor On White Background Stock ...">
            <a:extLst>
              <a:ext uri="{FF2B5EF4-FFF2-40B4-BE49-F238E27FC236}">
                <a16:creationId xmlns:a16="http://schemas.microsoft.com/office/drawing/2014/main" xmlns="" id="{EB8E65E5-0317-4CFA-9305-A0DDF4ECFDA5}"/>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b="12367"/>
          <a:stretch/>
        </p:blipFill>
        <p:spPr bwMode="auto">
          <a:xfrm>
            <a:off x="2032301" y="4842150"/>
            <a:ext cx="2524125" cy="1585946"/>
          </a:xfrm>
          <a:prstGeom prst="rect">
            <a:avLst/>
          </a:prstGeom>
          <a:noFill/>
          <a:extLst>
            <a:ext uri="{909E8E84-426E-40DD-AFC4-6F175D3DCCD1}">
              <a14:hiddenFill xmlns:a14="http://schemas.microsoft.com/office/drawing/2010/main">
                <a:solidFill>
                  <a:srgbClr val="FFFFFF"/>
                </a:solidFill>
              </a14:hiddenFill>
            </a:ext>
          </a:extLst>
        </p:spPr>
      </p:pic>
      <p:pic>
        <p:nvPicPr>
          <p:cNvPr id="2072" name="Picture 24" descr="Jumper Wires 9">
            <a:extLst>
              <a:ext uri="{FF2B5EF4-FFF2-40B4-BE49-F238E27FC236}">
                <a16:creationId xmlns:a16="http://schemas.microsoft.com/office/drawing/2014/main" xmlns="" id="{A1B60FF0-73B0-457F-9F32-5CBAF9134923}"/>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053686" y="4902152"/>
            <a:ext cx="3177622" cy="19027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9346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6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6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6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0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583F070-6A79-4B24-AE37-F5911FC7DA6A}"/>
              </a:ext>
            </a:extLst>
          </p:cNvPr>
          <p:cNvSpPr>
            <a:spLocks noGrp="1"/>
          </p:cNvSpPr>
          <p:nvPr>
            <p:ph type="title"/>
          </p:nvPr>
        </p:nvSpPr>
        <p:spPr/>
        <p:txBody>
          <a:bodyPr>
            <a:normAutofit/>
          </a:bodyPr>
          <a:lstStyle/>
          <a:p>
            <a:pPr algn="ctr"/>
            <a:r>
              <a:rPr lang="en-US" sz="4000" b="1" dirty="0" err="1">
                <a:latin typeface="Calibri" panose="020F0502020204030204" pitchFamily="34" charset="0"/>
                <a:cs typeface="Calibri" panose="020F0502020204030204" pitchFamily="34" charset="0"/>
              </a:rPr>
              <a:t>Softwares</a:t>
            </a:r>
            <a:endParaRPr lang="en-US" sz="4000" dirty="0"/>
          </a:p>
        </p:txBody>
      </p:sp>
      <p:sp>
        <p:nvSpPr>
          <p:cNvPr id="3" name="Content Placeholder 2">
            <a:extLst>
              <a:ext uri="{FF2B5EF4-FFF2-40B4-BE49-F238E27FC236}">
                <a16:creationId xmlns:a16="http://schemas.microsoft.com/office/drawing/2014/main" xmlns="" id="{30DB87AE-C91D-4C7C-94AD-5ABF041CB341}"/>
              </a:ext>
            </a:extLst>
          </p:cNvPr>
          <p:cNvSpPr>
            <a:spLocks noGrp="1"/>
          </p:cNvSpPr>
          <p:nvPr>
            <p:ph idx="1"/>
          </p:nvPr>
        </p:nvSpPr>
        <p:spPr>
          <a:xfrm>
            <a:off x="838200" y="2315956"/>
            <a:ext cx="10515600" cy="4351338"/>
          </a:xfrm>
        </p:spPr>
        <p:txBody>
          <a:bodyPr/>
          <a:lstStyle/>
          <a:p>
            <a:pPr lvl="0" eaLnBrk="0" fontAlgn="base" hangingPunct="0">
              <a:lnSpc>
                <a:spcPct val="150000"/>
              </a:lnSpc>
              <a:spcBef>
                <a:spcPct val="0"/>
              </a:spcBef>
              <a:spcAft>
                <a:spcPct val="0"/>
              </a:spcAft>
            </a:pPr>
            <a:r>
              <a:rPr lang="en-US" altLang="en-US" sz="2200" b="1" dirty="0">
                <a:latin typeface="Calibri" panose="020F0502020204030204" pitchFamily="34" charset="0"/>
                <a:cs typeface="Calibri" panose="020F0502020204030204" pitchFamily="34" charset="0"/>
              </a:rPr>
              <a:t>SolidWorks</a:t>
            </a:r>
            <a:r>
              <a:rPr lang="en-US" altLang="en-US" sz="2200" dirty="0">
                <a:latin typeface="Calibri" panose="020F0502020204030204" pitchFamily="34" charset="0"/>
                <a:cs typeface="Calibri" panose="020F0502020204030204" pitchFamily="34" charset="0"/>
              </a:rPr>
              <a:t> – Conveyor belt and mechanical design</a:t>
            </a:r>
          </a:p>
          <a:p>
            <a:pPr lvl="0" eaLnBrk="0" fontAlgn="base" hangingPunct="0">
              <a:lnSpc>
                <a:spcPct val="150000"/>
              </a:lnSpc>
              <a:spcBef>
                <a:spcPct val="0"/>
              </a:spcBef>
              <a:spcAft>
                <a:spcPct val="0"/>
              </a:spcAft>
            </a:pPr>
            <a:r>
              <a:rPr lang="en-US" altLang="en-US" sz="2200" b="1" dirty="0">
                <a:latin typeface="Calibri" panose="020F0502020204030204" pitchFamily="34" charset="0"/>
                <a:cs typeface="Calibri" panose="020F0502020204030204" pitchFamily="34" charset="0"/>
              </a:rPr>
              <a:t>Delta PLC Programming Software</a:t>
            </a:r>
            <a:r>
              <a:rPr lang="en-US" altLang="en-US" sz="2200" dirty="0">
                <a:latin typeface="Calibri" panose="020F0502020204030204" pitchFamily="34" charset="0"/>
                <a:cs typeface="Calibri" panose="020F0502020204030204" pitchFamily="34" charset="0"/>
              </a:rPr>
              <a:t> – PLC ladder logic programming</a:t>
            </a:r>
          </a:p>
          <a:p>
            <a:pPr lvl="0" eaLnBrk="0" fontAlgn="base" hangingPunct="0">
              <a:lnSpc>
                <a:spcPct val="150000"/>
              </a:lnSpc>
              <a:spcBef>
                <a:spcPct val="0"/>
              </a:spcBef>
              <a:spcAft>
                <a:spcPct val="0"/>
              </a:spcAft>
            </a:pPr>
            <a:r>
              <a:rPr lang="en-US" altLang="en-US" sz="2200" b="1" dirty="0">
                <a:latin typeface="Calibri" panose="020F0502020204030204" pitchFamily="34" charset="0"/>
                <a:cs typeface="Calibri" panose="020F0502020204030204" pitchFamily="34" charset="0"/>
              </a:rPr>
              <a:t>Arduino IDE</a:t>
            </a:r>
            <a:r>
              <a:rPr lang="en-US" altLang="en-US" sz="2200" dirty="0">
                <a:latin typeface="Calibri" panose="020F0502020204030204" pitchFamily="34" charset="0"/>
                <a:cs typeface="Calibri" panose="020F0502020204030204" pitchFamily="34" charset="0"/>
              </a:rPr>
              <a:t> – Programming the robotic arm</a:t>
            </a:r>
          </a:p>
          <a:p>
            <a:pPr lvl="0" eaLnBrk="0" fontAlgn="base" hangingPunct="0">
              <a:lnSpc>
                <a:spcPct val="150000"/>
              </a:lnSpc>
              <a:spcBef>
                <a:spcPct val="0"/>
              </a:spcBef>
              <a:spcAft>
                <a:spcPct val="0"/>
              </a:spcAft>
            </a:pPr>
            <a:r>
              <a:rPr lang="en-US" altLang="en-US" sz="2200" b="1" dirty="0">
                <a:latin typeface="Calibri" panose="020F0502020204030204" pitchFamily="34" charset="0"/>
                <a:cs typeface="Calibri" panose="020F0502020204030204" pitchFamily="34" charset="0"/>
              </a:rPr>
              <a:t>Python / OpenCV</a:t>
            </a:r>
            <a:r>
              <a:rPr lang="en-US" altLang="en-US" sz="2200" dirty="0">
                <a:latin typeface="Calibri" panose="020F0502020204030204" pitchFamily="34" charset="0"/>
                <a:cs typeface="Calibri" panose="020F0502020204030204" pitchFamily="34" charset="0"/>
              </a:rPr>
              <a:t> – Camera color detection on Raspberry Pi</a:t>
            </a:r>
          </a:p>
          <a:p>
            <a:endParaRPr lang="en-US" dirty="0"/>
          </a:p>
        </p:txBody>
      </p:sp>
    </p:spTree>
    <p:extLst>
      <p:ext uri="{BB962C8B-B14F-4D97-AF65-F5344CB8AC3E}">
        <p14:creationId xmlns:p14="http://schemas.microsoft.com/office/powerpoint/2010/main" val="28896590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21CEEA-8B72-40E5-89BB-1AEACF06618D}"/>
              </a:ext>
            </a:extLst>
          </p:cNvPr>
          <p:cNvSpPr>
            <a:spLocks noGrp="1"/>
          </p:cNvSpPr>
          <p:nvPr>
            <p:ph type="title"/>
          </p:nvPr>
        </p:nvSpPr>
        <p:spPr/>
        <p:txBody>
          <a:bodyPr>
            <a:normAutofit/>
          </a:bodyPr>
          <a:lstStyle/>
          <a:p>
            <a:pPr algn="ctr"/>
            <a:r>
              <a:rPr lang="en-US" sz="4000" b="1" dirty="0">
                <a:latin typeface="Calibri" panose="020F0502020204030204" pitchFamily="34" charset="0"/>
                <a:cs typeface="Calibri" panose="020F0502020204030204" pitchFamily="34" charset="0"/>
              </a:rPr>
              <a:t>Interfacing</a:t>
            </a:r>
            <a:endParaRPr lang="en-US" sz="4000" dirty="0"/>
          </a:p>
        </p:txBody>
      </p:sp>
      <p:sp>
        <p:nvSpPr>
          <p:cNvPr id="3" name="Content Placeholder 2">
            <a:extLst>
              <a:ext uri="{FF2B5EF4-FFF2-40B4-BE49-F238E27FC236}">
                <a16:creationId xmlns:a16="http://schemas.microsoft.com/office/drawing/2014/main" xmlns="" id="{14D5F9B0-CE23-455B-ACAD-23CAA80405BE}"/>
              </a:ext>
            </a:extLst>
          </p:cNvPr>
          <p:cNvSpPr>
            <a:spLocks noGrp="1"/>
          </p:cNvSpPr>
          <p:nvPr>
            <p:ph idx="1"/>
          </p:nvPr>
        </p:nvSpPr>
        <p:spPr>
          <a:xfrm>
            <a:off x="838200" y="1690688"/>
            <a:ext cx="10515600" cy="4802187"/>
          </a:xfrm>
        </p:spPr>
        <p:txBody>
          <a:bodyPr/>
          <a:lstStyle/>
          <a:p>
            <a:pPr lvl="0" eaLnBrk="0" fontAlgn="base" hangingPunct="0">
              <a:lnSpc>
                <a:spcPct val="150000"/>
              </a:lnSpc>
              <a:spcBef>
                <a:spcPct val="0"/>
              </a:spcBef>
              <a:spcAft>
                <a:spcPct val="0"/>
              </a:spcAft>
            </a:pPr>
            <a:endParaRPr lang="en-US" altLang="en-US" sz="2200" dirty="0">
              <a:latin typeface="Calibri" panose="020F0502020204030204" pitchFamily="34" charset="0"/>
              <a:cs typeface="Calibri" panose="020F0502020204030204" pitchFamily="34" charset="0"/>
            </a:endParaRPr>
          </a:p>
          <a:p>
            <a:pPr lvl="0" eaLnBrk="0" fontAlgn="base" hangingPunct="0">
              <a:lnSpc>
                <a:spcPct val="150000"/>
              </a:lnSpc>
              <a:spcBef>
                <a:spcPct val="0"/>
              </a:spcBef>
              <a:spcAft>
                <a:spcPct val="0"/>
              </a:spcAft>
            </a:pPr>
            <a:endParaRPr lang="en-US" altLang="en-US" sz="2200" dirty="0">
              <a:latin typeface="Calibri" panose="020F0502020204030204" pitchFamily="34" charset="0"/>
              <a:cs typeface="Calibri" panose="020F0502020204030204" pitchFamily="34" charset="0"/>
            </a:endParaRPr>
          </a:p>
          <a:p>
            <a:pPr lvl="0" eaLnBrk="0" fontAlgn="base" hangingPunct="0">
              <a:lnSpc>
                <a:spcPct val="150000"/>
              </a:lnSpc>
              <a:spcBef>
                <a:spcPct val="0"/>
              </a:spcBef>
              <a:spcAft>
                <a:spcPct val="0"/>
              </a:spcAft>
            </a:pPr>
            <a:endParaRPr lang="en-US" altLang="en-US" sz="2200" dirty="0">
              <a:latin typeface="Calibri" panose="020F0502020204030204" pitchFamily="34" charset="0"/>
              <a:cs typeface="Calibri" panose="020F0502020204030204" pitchFamily="34" charset="0"/>
            </a:endParaRPr>
          </a:p>
          <a:p>
            <a:pPr lvl="0" eaLnBrk="0" fontAlgn="base" hangingPunct="0">
              <a:lnSpc>
                <a:spcPct val="150000"/>
              </a:lnSpc>
              <a:spcBef>
                <a:spcPct val="0"/>
              </a:spcBef>
              <a:spcAft>
                <a:spcPct val="0"/>
              </a:spcAft>
            </a:pPr>
            <a:endParaRPr lang="en-US" altLang="en-US" sz="2200" dirty="0">
              <a:latin typeface="Calibri" panose="020F0502020204030204" pitchFamily="34" charset="0"/>
              <a:cs typeface="Calibri" panose="020F0502020204030204" pitchFamily="34" charset="0"/>
            </a:endParaRPr>
          </a:p>
          <a:p>
            <a:pPr marL="0" lvl="0" indent="0" eaLnBrk="0" fontAlgn="base" hangingPunct="0">
              <a:lnSpc>
                <a:spcPct val="150000"/>
              </a:lnSpc>
              <a:spcBef>
                <a:spcPct val="0"/>
              </a:spcBef>
              <a:spcAft>
                <a:spcPct val="0"/>
              </a:spcAft>
              <a:buNone/>
            </a:pPr>
            <a:endParaRPr lang="en-US" altLang="en-US" sz="2200" dirty="0">
              <a:latin typeface="Calibri" panose="020F0502020204030204" pitchFamily="34" charset="0"/>
              <a:cs typeface="Calibri" panose="020F0502020204030204" pitchFamily="34" charset="0"/>
            </a:endParaRPr>
          </a:p>
          <a:p>
            <a:pPr marL="0" lvl="0" indent="0" eaLnBrk="0" fontAlgn="base" hangingPunct="0">
              <a:lnSpc>
                <a:spcPct val="150000"/>
              </a:lnSpc>
              <a:spcBef>
                <a:spcPct val="0"/>
              </a:spcBef>
              <a:spcAft>
                <a:spcPct val="0"/>
              </a:spcAft>
              <a:buNone/>
            </a:pPr>
            <a:endParaRPr lang="en-US" altLang="en-US" sz="2200" dirty="0">
              <a:latin typeface="Calibri" panose="020F0502020204030204" pitchFamily="34" charset="0"/>
              <a:cs typeface="Calibri" panose="020F0502020204030204" pitchFamily="34" charset="0"/>
            </a:endParaRPr>
          </a:p>
          <a:p>
            <a:endParaRPr lang="en-US" dirty="0"/>
          </a:p>
        </p:txBody>
      </p:sp>
      <p:sp>
        <p:nvSpPr>
          <p:cNvPr id="5" name="Rectangle: Rounded Corners 4">
            <a:extLst>
              <a:ext uri="{FF2B5EF4-FFF2-40B4-BE49-F238E27FC236}">
                <a16:creationId xmlns:a16="http://schemas.microsoft.com/office/drawing/2014/main" xmlns="" id="{9F544C91-330A-4880-9765-D137A82A5630}"/>
              </a:ext>
            </a:extLst>
          </p:cNvPr>
          <p:cNvSpPr/>
          <p:nvPr/>
        </p:nvSpPr>
        <p:spPr>
          <a:xfrm>
            <a:off x="1707873" y="1924603"/>
            <a:ext cx="2239618" cy="105913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dirty="0">
                <a:latin typeface="Calibri" panose="020F0502020204030204" pitchFamily="34" charset="0"/>
                <a:cs typeface="Calibri" panose="020F0502020204030204" pitchFamily="34" charset="0"/>
              </a:rPr>
              <a:t>IR sensors</a:t>
            </a:r>
            <a:endParaRPr lang="en-US" dirty="0"/>
          </a:p>
        </p:txBody>
      </p:sp>
      <p:sp>
        <p:nvSpPr>
          <p:cNvPr id="6" name="Rectangle: Rounded Corners 5">
            <a:extLst>
              <a:ext uri="{FF2B5EF4-FFF2-40B4-BE49-F238E27FC236}">
                <a16:creationId xmlns:a16="http://schemas.microsoft.com/office/drawing/2014/main" xmlns="" id="{CF56C22E-E371-46B9-AD8A-E6773BA7F409}"/>
              </a:ext>
            </a:extLst>
          </p:cNvPr>
          <p:cNvSpPr/>
          <p:nvPr/>
        </p:nvSpPr>
        <p:spPr>
          <a:xfrm>
            <a:off x="7484168" y="1982408"/>
            <a:ext cx="2239618" cy="1001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en-US" dirty="0">
              <a:latin typeface="Calibri" panose="020F0502020204030204" pitchFamily="34" charset="0"/>
              <a:cs typeface="Calibri" panose="020F0502020204030204" pitchFamily="34" charset="0"/>
            </a:endParaRPr>
          </a:p>
          <a:p>
            <a:pPr algn="ctr"/>
            <a:r>
              <a:rPr lang="en-US" altLang="en-US" dirty="0">
                <a:latin typeface="Calibri" panose="020F0502020204030204" pitchFamily="34" charset="0"/>
                <a:cs typeface="Calibri" panose="020F0502020204030204" pitchFamily="34" charset="0"/>
              </a:rPr>
              <a:t>PLC input</a:t>
            </a:r>
          </a:p>
          <a:p>
            <a:pPr algn="ctr"/>
            <a:endParaRPr lang="en-US" dirty="0"/>
          </a:p>
        </p:txBody>
      </p:sp>
      <p:sp>
        <p:nvSpPr>
          <p:cNvPr id="7" name="Rectangle: Rounded Corners 6">
            <a:extLst>
              <a:ext uri="{FF2B5EF4-FFF2-40B4-BE49-F238E27FC236}">
                <a16:creationId xmlns:a16="http://schemas.microsoft.com/office/drawing/2014/main" xmlns="" id="{27567B42-DC18-416F-8AA3-9F44EE5BC50B}"/>
              </a:ext>
            </a:extLst>
          </p:cNvPr>
          <p:cNvSpPr/>
          <p:nvPr/>
        </p:nvSpPr>
        <p:spPr>
          <a:xfrm>
            <a:off x="1707873" y="3217656"/>
            <a:ext cx="2239618" cy="10008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dirty="0">
                <a:latin typeface="Calibri" panose="020F0502020204030204" pitchFamily="34" charset="0"/>
                <a:cs typeface="Calibri" panose="020F0502020204030204" pitchFamily="34" charset="0"/>
              </a:rPr>
              <a:t>PLC</a:t>
            </a:r>
            <a:endParaRPr lang="en-US" dirty="0"/>
          </a:p>
        </p:txBody>
      </p:sp>
      <p:sp>
        <p:nvSpPr>
          <p:cNvPr id="8" name="Rectangle: Rounded Corners 7">
            <a:extLst>
              <a:ext uri="{FF2B5EF4-FFF2-40B4-BE49-F238E27FC236}">
                <a16:creationId xmlns:a16="http://schemas.microsoft.com/office/drawing/2014/main" xmlns="" id="{89660AB8-D935-4EC6-8DB6-8D3A23DB813E}"/>
              </a:ext>
            </a:extLst>
          </p:cNvPr>
          <p:cNvSpPr/>
          <p:nvPr/>
        </p:nvSpPr>
        <p:spPr>
          <a:xfrm>
            <a:off x="7484168" y="3247757"/>
            <a:ext cx="2239618" cy="97077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dirty="0">
                <a:latin typeface="Calibri" panose="020F0502020204030204" pitchFamily="34" charset="0"/>
                <a:cs typeface="Calibri" panose="020F0502020204030204" pitchFamily="34" charset="0"/>
              </a:rPr>
              <a:t>Motor</a:t>
            </a:r>
            <a:endParaRPr lang="en-US" dirty="0"/>
          </a:p>
        </p:txBody>
      </p:sp>
      <p:sp>
        <p:nvSpPr>
          <p:cNvPr id="9" name="Rectangle: Rounded Corners 8">
            <a:extLst>
              <a:ext uri="{FF2B5EF4-FFF2-40B4-BE49-F238E27FC236}">
                <a16:creationId xmlns:a16="http://schemas.microsoft.com/office/drawing/2014/main" xmlns="" id="{04E2CB67-7246-492C-8589-0101BCBD322F}"/>
              </a:ext>
            </a:extLst>
          </p:cNvPr>
          <p:cNvSpPr/>
          <p:nvPr/>
        </p:nvSpPr>
        <p:spPr>
          <a:xfrm>
            <a:off x="1707873" y="4515678"/>
            <a:ext cx="2239618" cy="10008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dirty="0">
                <a:latin typeface="Calibri" panose="020F0502020204030204" pitchFamily="34" charset="0"/>
                <a:cs typeface="Calibri" panose="020F0502020204030204" pitchFamily="34" charset="0"/>
              </a:rPr>
              <a:t>PLC</a:t>
            </a:r>
            <a:endParaRPr lang="en-US" dirty="0"/>
          </a:p>
        </p:txBody>
      </p:sp>
      <p:sp>
        <p:nvSpPr>
          <p:cNvPr id="10" name="Rectangle: Rounded Corners 9">
            <a:extLst>
              <a:ext uri="{FF2B5EF4-FFF2-40B4-BE49-F238E27FC236}">
                <a16:creationId xmlns:a16="http://schemas.microsoft.com/office/drawing/2014/main" xmlns="" id="{598996D2-3DF9-45E9-A6A5-327149094A7C}"/>
              </a:ext>
            </a:extLst>
          </p:cNvPr>
          <p:cNvSpPr/>
          <p:nvPr/>
        </p:nvSpPr>
        <p:spPr>
          <a:xfrm>
            <a:off x="7484168" y="4533662"/>
            <a:ext cx="2239618" cy="98289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dirty="0">
                <a:latin typeface="Calibri" panose="020F0502020204030204" pitchFamily="34" charset="0"/>
                <a:cs typeface="Calibri" panose="020F0502020204030204" pitchFamily="34" charset="0"/>
              </a:rPr>
              <a:t>Raspberry Pi</a:t>
            </a:r>
            <a:endParaRPr lang="en-US" dirty="0"/>
          </a:p>
        </p:txBody>
      </p:sp>
      <p:sp>
        <p:nvSpPr>
          <p:cNvPr id="11" name="Rectangle: Rounded Corners 10">
            <a:extLst>
              <a:ext uri="{FF2B5EF4-FFF2-40B4-BE49-F238E27FC236}">
                <a16:creationId xmlns:a16="http://schemas.microsoft.com/office/drawing/2014/main" xmlns="" id="{A8A01714-6CC6-44DF-B020-8103E82B2DE8}"/>
              </a:ext>
            </a:extLst>
          </p:cNvPr>
          <p:cNvSpPr/>
          <p:nvPr/>
        </p:nvSpPr>
        <p:spPr>
          <a:xfrm>
            <a:off x="1707873" y="5768460"/>
            <a:ext cx="2244588" cy="85110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dirty="0">
                <a:latin typeface="Calibri" panose="020F0502020204030204" pitchFamily="34" charset="0"/>
                <a:cs typeface="Calibri" panose="020F0502020204030204" pitchFamily="34" charset="0"/>
              </a:rPr>
              <a:t>PLC</a:t>
            </a:r>
            <a:endParaRPr lang="en-US" dirty="0"/>
          </a:p>
        </p:txBody>
      </p:sp>
      <p:sp>
        <p:nvSpPr>
          <p:cNvPr id="12" name="Rectangle: Rounded Corners 11">
            <a:extLst>
              <a:ext uri="{FF2B5EF4-FFF2-40B4-BE49-F238E27FC236}">
                <a16:creationId xmlns:a16="http://schemas.microsoft.com/office/drawing/2014/main" xmlns="" id="{4F510237-E639-40F6-A6D6-E4B21623795F}"/>
              </a:ext>
            </a:extLst>
          </p:cNvPr>
          <p:cNvSpPr/>
          <p:nvPr/>
        </p:nvSpPr>
        <p:spPr>
          <a:xfrm>
            <a:off x="7479198" y="5768460"/>
            <a:ext cx="2244588" cy="85110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dirty="0">
                <a:latin typeface="Calibri" panose="020F0502020204030204" pitchFamily="34" charset="0"/>
                <a:cs typeface="Calibri" panose="020F0502020204030204" pitchFamily="34" charset="0"/>
              </a:rPr>
              <a:t>Arduino UNO</a:t>
            </a:r>
            <a:endParaRPr lang="en-US" dirty="0"/>
          </a:p>
        </p:txBody>
      </p:sp>
      <p:cxnSp>
        <p:nvCxnSpPr>
          <p:cNvPr id="16" name="Straight Arrow Connector 15">
            <a:extLst>
              <a:ext uri="{FF2B5EF4-FFF2-40B4-BE49-F238E27FC236}">
                <a16:creationId xmlns:a16="http://schemas.microsoft.com/office/drawing/2014/main" xmlns="" id="{EAEB179E-FB34-4379-AC6C-BDC6E0C935E8}"/>
              </a:ext>
            </a:extLst>
          </p:cNvPr>
          <p:cNvCxnSpPr>
            <a:stCxn id="7" idx="3"/>
            <a:endCxn id="8" idx="1"/>
          </p:cNvCxnSpPr>
          <p:nvPr/>
        </p:nvCxnSpPr>
        <p:spPr>
          <a:xfrm>
            <a:off x="3947491" y="3718096"/>
            <a:ext cx="3536677" cy="1505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xmlns="" id="{0BC55515-CB17-4D9F-879D-395A7DFDB3E3}"/>
              </a:ext>
            </a:extLst>
          </p:cNvPr>
          <p:cNvCxnSpPr>
            <a:cxnSpLocks/>
            <a:stCxn id="9" idx="3"/>
            <a:endCxn id="10" idx="1"/>
          </p:cNvCxnSpPr>
          <p:nvPr/>
        </p:nvCxnSpPr>
        <p:spPr>
          <a:xfrm>
            <a:off x="3947491" y="5016118"/>
            <a:ext cx="3536677" cy="899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xmlns="" id="{B6B00FA6-90B6-495D-8C6E-2472988DEAA7}"/>
              </a:ext>
            </a:extLst>
          </p:cNvPr>
          <p:cNvCxnSpPr>
            <a:stCxn id="11" idx="3"/>
            <a:endCxn id="12" idx="1"/>
          </p:cNvCxnSpPr>
          <p:nvPr/>
        </p:nvCxnSpPr>
        <p:spPr>
          <a:xfrm>
            <a:off x="3952461" y="6194013"/>
            <a:ext cx="3526737"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xmlns="" id="{1A45C12B-D7E7-47E1-B669-DE4533021665}"/>
              </a:ext>
            </a:extLst>
          </p:cNvPr>
          <p:cNvCxnSpPr>
            <a:cxnSpLocks/>
            <a:stCxn id="5" idx="3"/>
            <a:endCxn id="6" idx="1"/>
          </p:cNvCxnSpPr>
          <p:nvPr/>
        </p:nvCxnSpPr>
        <p:spPr>
          <a:xfrm>
            <a:off x="3947491" y="2454172"/>
            <a:ext cx="3536677" cy="2890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xmlns="" id="{A18AE3C4-E96D-432B-A14B-F5C90FB62BAE}"/>
              </a:ext>
            </a:extLst>
          </p:cNvPr>
          <p:cNvSpPr/>
          <p:nvPr/>
        </p:nvSpPr>
        <p:spPr>
          <a:xfrm>
            <a:off x="5269489" y="4587898"/>
            <a:ext cx="892680" cy="430887"/>
          </a:xfrm>
          <a:prstGeom prst="rect">
            <a:avLst/>
          </a:prstGeom>
          <a:noFill/>
        </p:spPr>
        <p:txBody>
          <a:bodyPr wrap="none" lIns="91440" tIns="45720" rIns="91440" bIns="45720">
            <a:spAutoFit/>
          </a:bodyPr>
          <a:lstStyle/>
          <a:p>
            <a:pPr algn="ctr"/>
            <a:r>
              <a:rPr lang="en-US" sz="2200" b="0" cap="none" spc="0" dirty="0">
                <a:ln w="0"/>
                <a:solidFill>
                  <a:schemeClr val="tx1"/>
                </a:solidFill>
                <a:effectLst>
                  <a:outerShdw blurRad="38100" dist="19050" dir="2700000" algn="tl" rotWithShape="0">
                    <a:schemeClr val="dk1">
                      <a:alpha val="40000"/>
                    </a:schemeClr>
                  </a:outerShdw>
                </a:effectLst>
              </a:rPr>
              <a:t>RS485</a:t>
            </a:r>
          </a:p>
        </p:txBody>
      </p:sp>
      <p:sp>
        <p:nvSpPr>
          <p:cNvPr id="27" name="Rectangle 26">
            <a:extLst>
              <a:ext uri="{FF2B5EF4-FFF2-40B4-BE49-F238E27FC236}">
                <a16:creationId xmlns:a16="http://schemas.microsoft.com/office/drawing/2014/main" xmlns="" id="{B9FF4D2E-2B1B-4AF7-BCD0-A9DFF5DE902F}"/>
              </a:ext>
            </a:extLst>
          </p:cNvPr>
          <p:cNvSpPr/>
          <p:nvPr/>
        </p:nvSpPr>
        <p:spPr>
          <a:xfrm>
            <a:off x="4992251" y="2040901"/>
            <a:ext cx="1723805" cy="430887"/>
          </a:xfrm>
          <a:prstGeom prst="rect">
            <a:avLst/>
          </a:prstGeom>
          <a:noFill/>
        </p:spPr>
        <p:txBody>
          <a:bodyPr wrap="none" lIns="91440" tIns="45720" rIns="91440" bIns="45720">
            <a:spAutoFit/>
          </a:bodyPr>
          <a:lstStyle/>
          <a:p>
            <a:pPr algn="ctr"/>
            <a:r>
              <a:rPr lang="en-US" sz="2200" dirty="0" err="1">
                <a:ln w="0"/>
                <a:effectLst>
                  <a:outerShdw blurRad="38100" dist="19050" dir="2700000" algn="tl" rotWithShape="0">
                    <a:schemeClr val="dk1">
                      <a:alpha val="40000"/>
                    </a:schemeClr>
                  </a:outerShdw>
                </a:effectLst>
              </a:rPr>
              <a:t>Optoisolators</a:t>
            </a:r>
            <a:endParaRPr lang="en-US" sz="22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99140344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470ABB-85A4-42C3-BA74-2A15F30D1E40}"/>
              </a:ext>
            </a:extLst>
          </p:cNvPr>
          <p:cNvSpPr>
            <a:spLocks noGrp="1"/>
          </p:cNvSpPr>
          <p:nvPr>
            <p:ph type="title"/>
          </p:nvPr>
        </p:nvSpPr>
        <p:spPr/>
        <p:txBody>
          <a:bodyPr>
            <a:normAutofit/>
          </a:bodyPr>
          <a:lstStyle/>
          <a:p>
            <a:pPr algn="ctr"/>
            <a:r>
              <a:rPr lang="en-US" sz="4000" b="1" dirty="0">
                <a:latin typeface="Calibri" panose="020F0502020204030204" pitchFamily="34" charset="0"/>
                <a:cs typeface="Calibri" panose="020F0502020204030204" pitchFamily="34" charset="0"/>
              </a:rPr>
              <a:t>Current Progress</a:t>
            </a:r>
            <a:endParaRPr lang="en-US" sz="4000" dirty="0"/>
          </a:p>
        </p:txBody>
      </p:sp>
      <p:sp>
        <p:nvSpPr>
          <p:cNvPr id="3" name="Content Placeholder 2">
            <a:extLst>
              <a:ext uri="{FF2B5EF4-FFF2-40B4-BE49-F238E27FC236}">
                <a16:creationId xmlns:a16="http://schemas.microsoft.com/office/drawing/2014/main" xmlns="" id="{0C65B4F9-E8A9-40F7-B26E-0F1E5181FAF6}"/>
              </a:ext>
            </a:extLst>
          </p:cNvPr>
          <p:cNvSpPr>
            <a:spLocks noGrp="1"/>
          </p:cNvSpPr>
          <p:nvPr>
            <p:ph idx="1"/>
          </p:nvPr>
        </p:nvSpPr>
        <p:spPr/>
        <p:txBody>
          <a:bodyPr/>
          <a:lstStyle/>
          <a:p>
            <a:pPr lvl="0" eaLnBrk="0" fontAlgn="base" hangingPunct="0">
              <a:lnSpc>
                <a:spcPct val="150000"/>
              </a:lnSpc>
              <a:spcBef>
                <a:spcPct val="0"/>
              </a:spcBef>
              <a:spcAft>
                <a:spcPct val="0"/>
              </a:spcAft>
            </a:pPr>
            <a:r>
              <a:rPr lang="en-US" altLang="en-US" sz="2200" dirty="0">
                <a:latin typeface="Calibri" panose="020F0502020204030204" pitchFamily="34" charset="0"/>
                <a:cs typeface="Calibri" panose="020F0502020204030204" pitchFamily="34" charset="0"/>
              </a:rPr>
              <a:t>All components have been gathered</a:t>
            </a:r>
          </a:p>
          <a:p>
            <a:pPr lvl="0" eaLnBrk="0" fontAlgn="base" hangingPunct="0">
              <a:lnSpc>
                <a:spcPct val="150000"/>
              </a:lnSpc>
              <a:spcBef>
                <a:spcPct val="0"/>
              </a:spcBef>
              <a:spcAft>
                <a:spcPct val="0"/>
              </a:spcAft>
            </a:pPr>
            <a:r>
              <a:rPr lang="en-US" altLang="en-US" sz="2200" dirty="0">
                <a:latin typeface="Calibri" panose="020F0502020204030204" pitchFamily="34" charset="0"/>
                <a:cs typeface="Calibri" panose="020F0502020204030204" pitchFamily="34" charset="0"/>
              </a:rPr>
              <a:t>Conveyor belt designed in </a:t>
            </a:r>
            <a:r>
              <a:rPr lang="en-US" altLang="en-US" sz="2200" b="1" dirty="0">
                <a:latin typeface="Calibri" panose="020F0502020204030204" pitchFamily="34" charset="0"/>
                <a:cs typeface="Calibri" panose="020F0502020204030204" pitchFamily="34" charset="0"/>
              </a:rPr>
              <a:t>SolidWorks</a:t>
            </a:r>
            <a:endParaRPr lang="en-US" altLang="en-US" sz="2200" dirty="0">
              <a:latin typeface="Calibri" panose="020F0502020204030204" pitchFamily="34" charset="0"/>
              <a:cs typeface="Calibri" panose="020F0502020204030204" pitchFamily="34" charset="0"/>
            </a:endParaRPr>
          </a:p>
          <a:p>
            <a:pPr lvl="0" eaLnBrk="0" fontAlgn="base" hangingPunct="0">
              <a:lnSpc>
                <a:spcPct val="150000"/>
              </a:lnSpc>
              <a:spcBef>
                <a:spcPct val="0"/>
              </a:spcBef>
              <a:spcAft>
                <a:spcPct val="0"/>
              </a:spcAft>
            </a:pPr>
            <a:r>
              <a:rPr lang="en-US" altLang="en-US" sz="2200" dirty="0">
                <a:latin typeface="Calibri" panose="020F0502020204030204" pitchFamily="34" charset="0"/>
                <a:cs typeface="Calibri" panose="020F0502020204030204" pitchFamily="34" charset="0"/>
              </a:rPr>
              <a:t>Research papers and references have been studied</a:t>
            </a:r>
          </a:p>
          <a:p>
            <a:pPr lvl="0" eaLnBrk="0" fontAlgn="base" hangingPunct="0">
              <a:lnSpc>
                <a:spcPct val="150000"/>
              </a:lnSpc>
              <a:spcBef>
                <a:spcPct val="0"/>
              </a:spcBef>
              <a:spcAft>
                <a:spcPct val="0"/>
              </a:spcAft>
            </a:pPr>
            <a:r>
              <a:rPr lang="en-US" altLang="en-US" sz="2200" dirty="0">
                <a:latin typeface="Calibri" panose="020F0502020204030204" pitchFamily="34" charset="0"/>
                <a:cs typeface="Calibri" panose="020F0502020204030204" pitchFamily="34" charset="0"/>
              </a:rPr>
              <a:t>Initial testing: color detection using </a:t>
            </a:r>
            <a:r>
              <a:rPr lang="en-US" altLang="en-US" sz="2200" b="1" dirty="0">
                <a:latin typeface="Calibri" panose="020F0502020204030204" pitchFamily="34" charset="0"/>
                <a:cs typeface="Calibri" panose="020F0502020204030204" pitchFamily="34" charset="0"/>
              </a:rPr>
              <a:t>Python and laptop camera</a:t>
            </a:r>
            <a:endParaRPr lang="en-US" altLang="en-US" sz="2200" dirty="0">
              <a:latin typeface="Calibri" panose="020F0502020204030204" pitchFamily="34" charset="0"/>
              <a:cs typeface="Calibri" panose="020F0502020204030204" pitchFamily="34" charset="0"/>
            </a:endParaRPr>
          </a:p>
          <a:p>
            <a:pPr lvl="0" eaLnBrk="0" fontAlgn="base" hangingPunct="0">
              <a:lnSpc>
                <a:spcPct val="150000"/>
              </a:lnSpc>
              <a:spcBef>
                <a:spcPct val="0"/>
              </a:spcBef>
              <a:spcAft>
                <a:spcPct val="0"/>
              </a:spcAft>
            </a:pPr>
            <a:r>
              <a:rPr lang="en-US" altLang="en-US" sz="2200" dirty="0">
                <a:latin typeface="Calibri" panose="020F0502020204030204" pitchFamily="34" charset="0"/>
                <a:cs typeface="Calibri" panose="020F0502020204030204" pitchFamily="34" charset="0"/>
              </a:rPr>
              <a:t>Interfacing plan prepared</a:t>
            </a:r>
          </a:p>
          <a:p>
            <a:pPr lvl="0" eaLnBrk="0" fontAlgn="base" hangingPunct="0">
              <a:lnSpc>
                <a:spcPct val="150000"/>
              </a:lnSpc>
              <a:spcBef>
                <a:spcPct val="0"/>
              </a:spcBef>
              <a:spcAft>
                <a:spcPct val="0"/>
              </a:spcAft>
            </a:pPr>
            <a:r>
              <a:rPr lang="en-US" altLang="en-US" sz="2200" dirty="0">
                <a:latin typeface="Calibri" panose="020F0502020204030204" pitchFamily="34" charset="0"/>
                <a:cs typeface="Calibri" panose="020F0502020204030204" pitchFamily="34" charset="0"/>
              </a:rPr>
              <a:t>Overall project completion: 50%</a:t>
            </a:r>
          </a:p>
          <a:p>
            <a:endParaRPr lang="en-US" dirty="0"/>
          </a:p>
        </p:txBody>
      </p:sp>
    </p:spTree>
    <p:extLst>
      <p:ext uri="{BB962C8B-B14F-4D97-AF65-F5344CB8AC3E}">
        <p14:creationId xmlns:p14="http://schemas.microsoft.com/office/powerpoint/2010/main" val="29363137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136AFBB-970C-400E-ACAA-39C4BACD0D69}"/>
              </a:ext>
            </a:extLst>
          </p:cNvPr>
          <p:cNvSpPr>
            <a:spLocks noGrp="1"/>
          </p:cNvSpPr>
          <p:nvPr>
            <p:ph type="title"/>
          </p:nvPr>
        </p:nvSpPr>
        <p:spPr/>
        <p:txBody>
          <a:bodyPr>
            <a:normAutofit/>
          </a:bodyPr>
          <a:lstStyle/>
          <a:p>
            <a:pPr algn="ctr"/>
            <a:r>
              <a:rPr lang="en-US" sz="4000" b="1" dirty="0">
                <a:latin typeface="+mn-lt"/>
              </a:rPr>
              <a:t>SolidWorks Design </a:t>
            </a:r>
          </a:p>
        </p:txBody>
      </p:sp>
      <p:pic>
        <p:nvPicPr>
          <p:cNvPr id="17" name="Content Placeholder 16">
            <a:extLst>
              <a:ext uri="{FF2B5EF4-FFF2-40B4-BE49-F238E27FC236}">
                <a16:creationId xmlns:a16="http://schemas.microsoft.com/office/drawing/2014/main" xmlns="" id="{8DF8C669-8160-4EC9-9CF2-F10CA930ADF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06253" y="1478653"/>
            <a:ext cx="3353268" cy="2686425"/>
          </a:xfrm>
        </p:spPr>
      </p:pic>
      <p:pic>
        <p:nvPicPr>
          <p:cNvPr id="19" name="Picture 18">
            <a:extLst>
              <a:ext uri="{FF2B5EF4-FFF2-40B4-BE49-F238E27FC236}">
                <a16:creationId xmlns:a16="http://schemas.microsoft.com/office/drawing/2014/main" xmlns="" id="{27F68A18-2B56-4A64-9605-25F60578BA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1896" y="1478654"/>
            <a:ext cx="3353268" cy="2686424"/>
          </a:xfrm>
          <a:prstGeom prst="rect">
            <a:avLst/>
          </a:prstGeom>
        </p:spPr>
      </p:pic>
      <p:pic>
        <p:nvPicPr>
          <p:cNvPr id="21" name="Picture 20">
            <a:extLst>
              <a:ext uri="{FF2B5EF4-FFF2-40B4-BE49-F238E27FC236}">
                <a16:creationId xmlns:a16="http://schemas.microsoft.com/office/drawing/2014/main" xmlns="" id="{9507045F-D510-44F6-9F3B-9EAA770F460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8261" y="4399722"/>
            <a:ext cx="3048000" cy="2292626"/>
          </a:xfrm>
          <a:prstGeom prst="rect">
            <a:avLst/>
          </a:prstGeom>
        </p:spPr>
      </p:pic>
    </p:spTree>
    <p:extLst>
      <p:ext uri="{BB962C8B-B14F-4D97-AF65-F5344CB8AC3E}">
        <p14:creationId xmlns:p14="http://schemas.microsoft.com/office/powerpoint/2010/main" val="361056746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8F36BBC-E52A-40CC-BB39-6BA0DB6DC8C2}"/>
              </a:ext>
            </a:extLst>
          </p:cNvPr>
          <p:cNvSpPr>
            <a:spLocks noGrp="1"/>
          </p:cNvSpPr>
          <p:nvPr>
            <p:ph type="title"/>
          </p:nvPr>
        </p:nvSpPr>
        <p:spPr/>
        <p:txBody>
          <a:bodyPr>
            <a:normAutofit/>
          </a:bodyPr>
          <a:lstStyle/>
          <a:p>
            <a:pPr algn="ctr"/>
            <a:r>
              <a:rPr lang="en-US" sz="4000" b="1" dirty="0">
                <a:latin typeface="+mn-lt"/>
              </a:rPr>
              <a:t>Initial Testing</a:t>
            </a:r>
          </a:p>
        </p:txBody>
      </p:sp>
      <p:pic>
        <p:nvPicPr>
          <p:cNvPr id="10" name="WhatsApp Video 2026-01-18 at 11.48.10 AM (3)">
            <a:hlinkClick r:id="" action="ppaction://media"/>
            <a:extLst>
              <a:ext uri="{FF2B5EF4-FFF2-40B4-BE49-F238E27FC236}">
                <a16:creationId xmlns:a16="http://schemas.microsoft.com/office/drawing/2014/main" xmlns="" id="{799A22A4-A6FD-4E44-B77F-C9F4B21DDEF3}"/>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2345634" y="1690688"/>
            <a:ext cx="7739269" cy="4535419"/>
          </a:xfrm>
        </p:spPr>
      </p:pic>
    </p:spTree>
    <p:extLst>
      <p:ext uri="{BB962C8B-B14F-4D97-AF65-F5344CB8AC3E}">
        <p14:creationId xmlns:p14="http://schemas.microsoft.com/office/powerpoint/2010/main" val="3401626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6614"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7047AC5-FDE1-4FBA-995E-B85C3A285186}"/>
              </a:ext>
            </a:extLst>
          </p:cNvPr>
          <p:cNvSpPr>
            <a:spLocks noGrp="1"/>
          </p:cNvSpPr>
          <p:nvPr>
            <p:ph type="title"/>
          </p:nvPr>
        </p:nvSpPr>
        <p:spPr/>
        <p:txBody>
          <a:bodyPr>
            <a:normAutofit/>
          </a:bodyPr>
          <a:lstStyle/>
          <a:p>
            <a:pPr algn="ctr"/>
            <a:r>
              <a:rPr lang="en-US" sz="4000" b="1" dirty="0">
                <a:latin typeface="+mn-lt"/>
              </a:rPr>
              <a:t>Timeline</a:t>
            </a:r>
          </a:p>
        </p:txBody>
      </p:sp>
      <p:pic>
        <p:nvPicPr>
          <p:cNvPr id="5" name="Content Placeholder 4">
            <a:extLst>
              <a:ext uri="{FF2B5EF4-FFF2-40B4-BE49-F238E27FC236}">
                <a16:creationId xmlns:a16="http://schemas.microsoft.com/office/drawing/2014/main" xmlns="" id="{4AE0834F-48CF-46F1-9499-84BA2BB2628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62540" y="1431235"/>
            <a:ext cx="8423088" cy="5061639"/>
          </a:xfrm>
        </p:spPr>
      </p:pic>
    </p:spTree>
    <p:extLst>
      <p:ext uri="{BB962C8B-B14F-4D97-AF65-F5344CB8AC3E}">
        <p14:creationId xmlns:p14="http://schemas.microsoft.com/office/powerpoint/2010/main" val="314863973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E72673-558E-4BA9-8690-C196A9250CF9}"/>
              </a:ext>
            </a:extLst>
          </p:cNvPr>
          <p:cNvSpPr>
            <a:spLocks noGrp="1"/>
          </p:cNvSpPr>
          <p:nvPr>
            <p:ph type="title"/>
          </p:nvPr>
        </p:nvSpPr>
        <p:spPr/>
        <p:txBody>
          <a:bodyPr>
            <a:normAutofit/>
          </a:bodyPr>
          <a:lstStyle/>
          <a:p>
            <a:pPr algn="ctr"/>
            <a:r>
              <a:rPr lang="en-US" sz="4000" b="1" dirty="0">
                <a:latin typeface="Calibri" panose="020F0502020204030204" pitchFamily="34" charset="0"/>
                <a:cs typeface="Calibri" panose="020F0502020204030204" pitchFamily="34" charset="0"/>
              </a:rPr>
              <a:t>Conclusion</a:t>
            </a:r>
            <a:endParaRPr lang="en-US" sz="4000" dirty="0"/>
          </a:p>
        </p:txBody>
      </p:sp>
      <p:sp>
        <p:nvSpPr>
          <p:cNvPr id="4" name="Rectangle 1">
            <a:extLst>
              <a:ext uri="{FF2B5EF4-FFF2-40B4-BE49-F238E27FC236}">
                <a16:creationId xmlns:a16="http://schemas.microsoft.com/office/drawing/2014/main" xmlns="" id="{BB7BA028-9E08-4412-A91C-1862D0319BC9}"/>
              </a:ext>
            </a:extLst>
          </p:cNvPr>
          <p:cNvSpPr>
            <a:spLocks noGrp="1" noChangeArrowheads="1"/>
          </p:cNvSpPr>
          <p:nvPr>
            <p:ph idx="1"/>
          </p:nvPr>
        </p:nvSpPr>
        <p:spPr bwMode="auto">
          <a:xfrm>
            <a:off x="1724439" y="1931966"/>
            <a:ext cx="8743122" cy="3647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buFont typeface="Wingdings" panose="05000000000000000000" pitchFamily="2" charset="2"/>
              <a:buChar char="§"/>
            </a:pPr>
            <a:r>
              <a:rPr kumimoji="0" lang="en-US" altLang="en-US" sz="2200" b="0" i="0" u="none" strike="noStrike" cap="none" normalizeH="0" baseline="0" dirty="0">
                <a:ln>
                  <a:noFill/>
                </a:ln>
                <a:solidFill>
                  <a:schemeClr val="tx1"/>
                </a:solidFill>
                <a:effectLst/>
              </a:rPr>
              <a:t>Uses a PLC as the central controller for the entire system</a:t>
            </a:r>
          </a:p>
          <a:p>
            <a:pPr eaLnBrk="0" fontAlgn="base" hangingPunct="0">
              <a:lnSpc>
                <a:spcPct val="150000"/>
              </a:lnSpc>
              <a:spcBef>
                <a:spcPct val="0"/>
              </a:spcBef>
              <a:spcAft>
                <a:spcPct val="0"/>
              </a:spcAft>
              <a:buFont typeface="Wingdings" panose="05000000000000000000" pitchFamily="2" charset="2"/>
              <a:buChar char="§"/>
            </a:pPr>
            <a:r>
              <a:rPr kumimoji="0" lang="en-US" altLang="en-US" sz="2200" b="0" i="0" u="none" strike="noStrike" cap="none" normalizeH="0" baseline="0" dirty="0">
                <a:ln>
                  <a:noFill/>
                </a:ln>
                <a:solidFill>
                  <a:schemeClr val="tx1"/>
                </a:solidFill>
                <a:effectLst/>
              </a:rPr>
              <a:t>Sorts objects automatically based on detected color</a:t>
            </a:r>
          </a:p>
          <a:p>
            <a:pPr eaLnBrk="0" fontAlgn="base" hangingPunct="0">
              <a:lnSpc>
                <a:spcPct val="150000"/>
              </a:lnSpc>
              <a:spcBef>
                <a:spcPct val="0"/>
              </a:spcBef>
              <a:spcAft>
                <a:spcPct val="0"/>
              </a:spcAft>
              <a:buFont typeface="Wingdings" panose="05000000000000000000" pitchFamily="2" charset="2"/>
              <a:buChar char="§"/>
            </a:pPr>
            <a:r>
              <a:rPr kumimoji="0" lang="en-US" altLang="en-US" sz="2200" b="0" i="0" u="none" strike="noStrike" cap="none" normalizeH="0" baseline="0" dirty="0">
                <a:ln>
                  <a:noFill/>
                </a:ln>
                <a:solidFill>
                  <a:schemeClr val="tx1"/>
                </a:solidFill>
                <a:effectLst/>
              </a:rPr>
              <a:t>IR sensors ensure accurate object detection and positioning</a:t>
            </a:r>
          </a:p>
          <a:p>
            <a:pPr eaLnBrk="0" fontAlgn="base" hangingPunct="0">
              <a:lnSpc>
                <a:spcPct val="150000"/>
              </a:lnSpc>
              <a:spcBef>
                <a:spcPct val="0"/>
              </a:spcBef>
              <a:spcAft>
                <a:spcPct val="0"/>
              </a:spcAft>
              <a:buFont typeface="Wingdings" panose="05000000000000000000" pitchFamily="2" charset="2"/>
              <a:buChar char="§"/>
            </a:pPr>
            <a:r>
              <a:rPr kumimoji="0" lang="en-US" altLang="en-US" sz="2200" b="0" i="0" u="none" strike="noStrike" cap="none" normalizeH="0" baseline="0" dirty="0">
                <a:ln>
                  <a:noFill/>
                </a:ln>
                <a:solidFill>
                  <a:schemeClr val="tx1"/>
                </a:solidFill>
                <a:effectLst/>
              </a:rPr>
              <a:t>Raspberry Pi with camera performs reliable color detection</a:t>
            </a:r>
          </a:p>
          <a:p>
            <a:pPr eaLnBrk="0" fontAlgn="base" hangingPunct="0">
              <a:lnSpc>
                <a:spcPct val="150000"/>
              </a:lnSpc>
              <a:spcBef>
                <a:spcPct val="0"/>
              </a:spcBef>
              <a:spcAft>
                <a:spcPct val="0"/>
              </a:spcAft>
              <a:buFont typeface="Wingdings" panose="05000000000000000000" pitchFamily="2" charset="2"/>
              <a:buChar char="§"/>
            </a:pPr>
            <a:r>
              <a:rPr kumimoji="0" lang="en-US" altLang="en-US" sz="2200" b="0" i="0" u="none" strike="noStrike" cap="none" normalizeH="0" baseline="0" dirty="0">
                <a:ln>
                  <a:noFill/>
                </a:ln>
                <a:solidFill>
                  <a:schemeClr val="tx1"/>
                </a:solidFill>
                <a:effectLst/>
              </a:rPr>
              <a:t>Arduino-controlled robotic arm handles precise sorting</a:t>
            </a:r>
          </a:p>
          <a:p>
            <a:pPr eaLnBrk="0" fontAlgn="base" hangingPunct="0">
              <a:lnSpc>
                <a:spcPct val="150000"/>
              </a:lnSpc>
              <a:spcBef>
                <a:spcPct val="0"/>
              </a:spcBef>
              <a:spcAft>
                <a:spcPct val="0"/>
              </a:spcAft>
              <a:buFont typeface="Wingdings" panose="05000000000000000000" pitchFamily="2" charset="2"/>
              <a:buChar char="§"/>
            </a:pPr>
            <a:r>
              <a:rPr kumimoji="0" lang="en-US" altLang="en-US" sz="2200" b="0" i="0" u="none" strike="noStrike" cap="none" normalizeH="0" baseline="0" dirty="0">
                <a:ln>
                  <a:noFill/>
                </a:ln>
                <a:solidFill>
                  <a:schemeClr val="tx1"/>
                </a:solidFill>
                <a:effectLst/>
              </a:rPr>
              <a:t>Reduces human involvement and manual errors</a:t>
            </a:r>
          </a:p>
          <a:p>
            <a:pPr eaLnBrk="0" fontAlgn="base" hangingPunct="0">
              <a:lnSpc>
                <a:spcPct val="150000"/>
              </a:lnSpc>
              <a:spcBef>
                <a:spcPct val="0"/>
              </a:spcBef>
              <a:spcAft>
                <a:spcPct val="0"/>
              </a:spcAft>
              <a:buFont typeface="Wingdings" panose="05000000000000000000" pitchFamily="2" charset="2"/>
              <a:buChar char="§"/>
            </a:pPr>
            <a:r>
              <a:rPr kumimoji="0" lang="en-US" altLang="en-US" sz="2200" b="0" i="0" u="none" strike="noStrike" cap="none" normalizeH="0" baseline="0" dirty="0">
                <a:ln>
                  <a:noFill/>
                </a:ln>
                <a:solidFill>
                  <a:schemeClr val="tx1"/>
                </a:solidFill>
                <a:effectLst/>
              </a:rPr>
              <a:t>Improves speed, accuracy, and overall productivity</a:t>
            </a:r>
          </a:p>
        </p:txBody>
      </p:sp>
    </p:spTree>
    <p:extLst>
      <p:ext uri="{BB962C8B-B14F-4D97-AF65-F5344CB8AC3E}">
        <p14:creationId xmlns:p14="http://schemas.microsoft.com/office/powerpoint/2010/main" val="9768265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F608FD-A1A3-4BE3-BB53-38A2BDC72EE8}"/>
              </a:ext>
            </a:extLst>
          </p:cNvPr>
          <p:cNvSpPr>
            <a:spLocks noGrp="1"/>
          </p:cNvSpPr>
          <p:nvPr>
            <p:ph type="title"/>
          </p:nvPr>
        </p:nvSpPr>
        <p:spPr/>
        <p:txBody>
          <a:bodyPr>
            <a:normAutofit/>
          </a:bodyPr>
          <a:lstStyle/>
          <a:p>
            <a:pPr algn="ctr"/>
            <a:r>
              <a:rPr lang="en-US" sz="4000" b="1" dirty="0">
                <a:latin typeface="Calibri" panose="020F0502020204030204" pitchFamily="34" charset="0"/>
                <a:cs typeface="Calibri" panose="020F0502020204030204" pitchFamily="34" charset="0"/>
              </a:rPr>
              <a:t>References</a:t>
            </a:r>
            <a:endParaRPr lang="en-US" sz="4000" b="1" dirty="0"/>
          </a:p>
        </p:txBody>
      </p:sp>
      <p:sp>
        <p:nvSpPr>
          <p:cNvPr id="3" name="Content Placeholder 2">
            <a:extLst>
              <a:ext uri="{FF2B5EF4-FFF2-40B4-BE49-F238E27FC236}">
                <a16:creationId xmlns:a16="http://schemas.microsoft.com/office/drawing/2014/main" xmlns="" id="{39AFC6C3-7A8F-4088-AD9C-9B759751976F}"/>
              </a:ext>
            </a:extLst>
          </p:cNvPr>
          <p:cNvSpPr>
            <a:spLocks noGrp="1"/>
          </p:cNvSpPr>
          <p:nvPr>
            <p:ph idx="1"/>
          </p:nvPr>
        </p:nvSpPr>
        <p:spPr>
          <a:xfrm>
            <a:off x="838200" y="1484243"/>
            <a:ext cx="10515600" cy="5008632"/>
          </a:xfrm>
        </p:spPr>
        <p:txBody>
          <a:bodyPr>
            <a:normAutofit/>
          </a:bodyPr>
          <a:lstStyle/>
          <a:p>
            <a:pPr>
              <a:lnSpc>
                <a:spcPct val="150000"/>
              </a:lnSpc>
            </a:pPr>
            <a:r>
              <a:rPr lang="en-US" sz="2200" b="1" dirty="0"/>
              <a:t>Building an Educational Automated </a:t>
            </a:r>
            <a:r>
              <a:rPr lang="en-US" sz="2200" b="1" dirty="0" err="1"/>
              <a:t>MechatronicsBased</a:t>
            </a:r>
            <a:r>
              <a:rPr lang="en-US" sz="2200" b="1" dirty="0"/>
              <a:t> Sorting System</a:t>
            </a:r>
          </a:p>
          <a:p>
            <a:pPr>
              <a:lnSpc>
                <a:spcPct val="150000"/>
              </a:lnSpc>
            </a:pPr>
            <a:r>
              <a:rPr lang="en-US" sz="2200" b="1" dirty="0"/>
              <a:t>Authors: </a:t>
            </a:r>
            <a:r>
              <a:rPr lang="en-US" sz="2200" dirty="0"/>
              <a:t>Benjamin </a:t>
            </a:r>
            <a:r>
              <a:rPr lang="en-US" sz="2200" dirty="0" err="1"/>
              <a:t>Jackvony</a:t>
            </a:r>
            <a:r>
              <a:rPr lang="en-US" sz="2200" dirty="0"/>
              <a:t> &amp; Musa </a:t>
            </a:r>
            <a:r>
              <a:rPr lang="en-US" sz="2200" dirty="0" err="1"/>
              <a:t>Jouaneh</a:t>
            </a:r>
            <a:r>
              <a:rPr lang="en-US" sz="2200" dirty="0"/>
              <a:t> </a:t>
            </a:r>
          </a:p>
          <a:p>
            <a:pPr>
              <a:lnSpc>
                <a:spcPct val="150000"/>
              </a:lnSpc>
            </a:pPr>
            <a:r>
              <a:rPr lang="en-US" sz="2200" b="1" dirty="0"/>
              <a:t>Published:</a:t>
            </a:r>
            <a:r>
              <a:rPr lang="en-US" sz="2200" dirty="0"/>
              <a:t> 15 July 2024 Link (open access): </a:t>
            </a:r>
          </a:p>
          <a:p>
            <a:pPr>
              <a:lnSpc>
                <a:spcPct val="150000"/>
              </a:lnSpc>
            </a:pPr>
            <a:r>
              <a:rPr lang="en-US" sz="2200" dirty="0">
                <a:hlinkClick r:id="rId2"/>
              </a:rPr>
              <a:t>https://www.mdpi.com/2673-4052/5/3/18 2</a:t>
            </a:r>
            <a:r>
              <a:rPr lang="en-US" sz="2200" dirty="0"/>
              <a:t>)</a:t>
            </a:r>
          </a:p>
          <a:p>
            <a:pPr>
              <a:lnSpc>
                <a:spcPct val="150000"/>
              </a:lnSpc>
            </a:pPr>
            <a:r>
              <a:rPr lang="en-US" sz="2200" dirty="0"/>
              <a:t> </a:t>
            </a:r>
            <a:r>
              <a:rPr lang="en-US" sz="2200" b="1" dirty="0"/>
              <a:t>Fruit Sorting Automation; Cartesian Robot and Conveyor Design </a:t>
            </a:r>
          </a:p>
          <a:p>
            <a:pPr>
              <a:lnSpc>
                <a:spcPct val="150000"/>
              </a:lnSpc>
            </a:pPr>
            <a:r>
              <a:rPr lang="en-US" sz="2200" b="1" dirty="0"/>
              <a:t>Authors: </a:t>
            </a:r>
            <a:r>
              <a:rPr lang="en-US" sz="2200" dirty="0"/>
              <a:t>Mustafa </a:t>
            </a:r>
            <a:r>
              <a:rPr lang="en-US" sz="2200" dirty="0" err="1"/>
              <a:t>Ayyıldız</a:t>
            </a:r>
            <a:r>
              <a:rPr lang="en-US" sz="2200" dirty="0"/>
              <a:t>, Yusuf Kenan </a:t>
            </a:r>
            <a:r>
              <a:rPr lang="en-US" sz="2200" dirty="0" err="1"/>
              <a:t>Çiftçi</a:t>
            </a:r>
            <a:r>
              <a:rPr lang="en-US" sz="2200" dirty="0"/>
              <a:t>, </a:t>
            </a:r>
            <a:r>
              <a:rPr lang="en-US" sz="2200" dirty="0" err="1"/>
              <a:t>Kubilay</a:t>
            </a:r>
            <a:r>
              <a:rPr lang="en-US" sz="2200" dirty="0"/>
              <a:t> </a:t>
            </a:r>
            <a:r>
              <a:rPr lang="en-US" sz="2200" dirty="0" err="1"/>
              <a:t>Kilecioğlu</a:t>
            </a:r>
            <a:r>
              <a:rPr lang="en-US" sz="2200" dirty="0"/>
              <a:t> &amp; </a:t>
            </a:r>
            <a:r>
              <a:rPr lang="en-US" sz="2200" dirty="0" err="1"/>
              <a:t>Ömer</a:t>
            </a:r>
            <a:r>
              <a:rPr lang="en-US" sz="2200" dirty="0"/>
              <a:t> Faruk Arslan</a:t>
            </a:r>
          </a:p>
          <a:p>
            <a:pPr>
              <a:lnSpc>
                <a:spcPct val="150000"/>
              </a:lnSpc>
            </a:pPr>
            <a:r>
              <a:rPr lang="en-US" sz="2200" b="1" dirty="0"/>
              <a:t>Published: </a:t>
            </a:r>
            <a:r>
              <a:rPr lang="en-US" sz="2200" dirty="0"/>
              <a:t>July 31, 2024 Link (open access / DOI): </a:t>
            </a:r>
          </a:p>
          <a:p>
            <a:pPr>
              <a:lnSpc>
                <a:spcPct val="150000"/>
              </a:lnSpc>
            </a:pPr>
            <a:r>
              <a:rPr lang="en-US" sz="2200" dirty="0"/>
              <a:t>https://doi.org/10.29130/dubited.1400615 3) </a:t>
            </a:r>
          </a:p>
        </p:txBody>
      </p:sp>
    </p:spTree>
    <p:extLst>
      <p:ext uri="{BB962C8B-B14F-4D97-AF65-F5344CB8AC3E}">
        <p14:creationId xmlns:p14="http://schemas.microsoft.com/office/powerpoint/2010/main" val="17447929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5CB64C-FF6C-4D3C-AF4E-8996EDE01982}"/>
              </a:ext>
            </a:extLst>
          </p:cNvPr>
          <p:cNvSpPr>
            <a:spLocks noGrp="1"/>
          </p:cNvSpPr>
          <p:nvPr>
            <p:ph type="title"/>
          </p:nvPr>
        </p:nvSpPr>
        <p:spPr/>
        <p:txBody>
          <a:bodyPr>
            <a:normAutofit/>
          </a:bodyPr>
          <a:lstStyle/>
          <a:p>
            <a:pPr algn="ctr"/>
            <a:r>
              <a:rPr lang="en-US" sz="4000" b="1" dirty="0"/>
              <a:t>References</a:t>
            </a:r>
          </a:p>
        </p:txBody>
      </p:sp>
      <p:sp>
        <p:nvSpPr>
          <p:cNvPr id="3" name="Content Placeholder 2">
            <a:extLst>
              <a:ext uri="{FF2B5EF4-FFF2-40B4-BE49-F238E27FC236}">
                <a16:creationId xmlns:a16="http://schemas.microsoft.com/office/drawing/2014/main" xmlns="" id="{4CAEF7C3-6B9F-49F4-A2DB-E7C60D1850A1}"/>
              </a:ext>
            </a:extLst>
          </p:cNvPr>
          <p:cNvSpPr>
            <a:spLocks noGrp="1"/>
          </p:cNvSpPr>
          <p:nvPr>
            <p:ph idx="1"/>
          </p:nvPr>
        </p:nvSpPr>
        <p:spPr/>
        <p:txBody>
          <a:bodyPr>
            <a:normAutofit/>
          </a:bodyPr>
          <a:lstStyle/>
          <a:p>
            <a:pPr>
              <a:lnSpc>
                <a:spcPct val="150000"/>
              </a:lnSpc>
            </a:pPr>
            <a:r>
              <a:rPr lang="en-US" sz="2200" b="1" dirty="0"/>
              <a:t> Implementing a Vision‑ Based ROS Package for Reliable Part Localization </a:t>
            </a:r>
            <a:r>
              <a:rPr lang="en-US" sz="2200" b="1" dirty="0" err="1"/>
              <a:t>andDisplacement</a:t>
            </a:r>
            <a:r>
              <a:rPr lang="en-US" sz="2200" b="1" dirty="0"/>
              <a:t> from Conveyor Belts </a:t>
            </a:r>
          </a:p>
          <a:p>
            <a:pPr>
              <a:lnSpc>
                <a:spcPct val="150000"/>
              </a:lnSpc>
            </a:pPr>
            <a:r>
              <a:rPr lang="en-US" sz="2200" b="1" dirty="0"/>
              <a:t>Authors: </a:t>
            </a:r>
            <a:r>
              <a:rPr lang="en-US" sz="2200" dirty="0"/>
              <a:t>Eber L. Gouveia, John G. Lyons &amp; Declan M. Devine</a:t>
            </a:r>
          </a:p>
          <a:p>
            <a:pPr>
              <a:lnSpc>
                <a:spcPct val="150000"/>
              </a:lnSpc>
            </a:pPr>
            <a:r>
              <a:rPr lang="en-US" sz="2200" dirty="0"/>
              <a:t> </a:t>
            </a:r>
            <a:r>
              <a:rPr lang="en-US" sz="2200" b="1" dirty="0"/>
              <a:t>Published: </a:t>
            </a:r>
            <a:r>
              <a:rPr lang="en-US" sz="2200" dirty="0"/>
              <a:t>30 September 2024 Link (open access): https://www.mdpi.com/2504-4494/8/5/218</a:t>
            </a:r>
          </a:p>
        </p:txBody>
      </p:sp>
    </p:spTree>
    <p:extLst>
      <p:ext uri="{BB962C8B-B14F-4D97-AF65-F5344CB8AC3E}">
        <p14:creationId xmlns:p14="http://schemas.microsoft.com/office/powerpoint/2010/main" val="30752945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572</TotalTime>
  <Words>572</Words>
  <Application>Microsoft Office PowerPoint</Application>
  <PresentationFormat>Widescreen</PresentationFormat>
  <Paragraphs>89</Paragraphs>
  <Slides>16</Slides>
  <Notes>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Times New Roman</vt:lpstr>
      <vt:lpstr>Wingdings</vt:lpstr>
      <vt:lpstr>Office Theme</vt:lpstr>
      <vt:lpstr>Smart Chromatic Sorting System Using PLC Automation</vt:lpstr>
      <vt:lpstr>Introduction</vt:lpstr>
      <vt:lpstr>Literature Review</vt:lpstr>
      <vt:lpstr>Problem Statement</vt:lpstr>
      <vt:lpstr>Objectives</vt:lpstr>
      <vt:lpstr>Methodology</vt:lpstr>
      <vt:lpstr>Components</vt:lpstr>
      <vt:lpstr>Softwares</vt:lpstr>
      <vt:lpstr>Interfacing</vt:lpstr>
      <vt:lpstr>Current Progress</vt:lpstr>
      <vt:lpstr>SolidWorks Design </vt:lpstr>
      <vt:lpstr>Initial Testing</vt:lpstr>
      <vt:lpstr>Timeline</vt:lpstr>
      <vt:lpstr>Conclusion</vt:lpstr>
      <vt:lpstr>References</vt:lpstr>
      <vt:lpstr>References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Chromatic Sorting System Using PLC Automation</dc:title>
  <dc:creator>AASHII</dc:creator>
  <cp:lastModifiedBy>User</cp:lastModifiedBy>
  <cp:revision>32</cp:revision>
  <dcterms:created xsi:type="dcterms:W3CDTF">2026-01-18T19:22:52Z</dcterms:created>
  <dcterms:modified xsi:type="dcterms:W3CDTF">2026-01-20T05:18:39Z</dcterms:modified>
</cp:coreProperties>
</file>